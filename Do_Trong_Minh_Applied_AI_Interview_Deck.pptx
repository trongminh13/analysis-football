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mục tiêu: 60 giây.</a:t>
            </a:r>
          </a:p>
          <a:p/>
          <a:p>
            <a:r>
              <a:t>Em có nền tảng từ Software Development và Quality Assurance, sau đó chuyển sang Applied AI. Kinh nghiệm gần nhất của em tập trung vào hệ thống multi-agent tạo test case từ tài liệu nghiệp vụ, kết hợp LLM, backend service, structured output và human review. Em cũng từng xây dựng pipeline Computer Vision cho phân tích video bóng đá, gồm detection, tracking, camera compensation và chuyển đổi tọa độ ảnh sang mặt sân thực.</a:t>
            </a:r>
          </a:p>
          <a:p/>
          <a:p>
            <a:r>
              <a:t>Định hướng của em là phát triển các hệ thống AI có thể hiểu dữ liệu đa phương thức, thao tác trên một representation có cấu trúc và tích hợp được vào quy trình làm việc thực tế.</a:t>
            </a:r>
          </a:p>
          <a:p/>
          <a:p>
            <a:r>
              <a:t>Thông điệp cần giữ: em không chỉ gọi model; em quan tâm representation, validation, integration và workflow của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Bắt đầu bằng pain point, không đọc danh sách công nghệ.</a:t>
            </a:r>
          </a:p>
          <a:p/>
          <a:p>
            <a:r>
              <a:t>QA phải đọc PRD, diễn giải requirement và viết test case thủ công. Với feature phức tạp, chu trình từ phân tích tới automation artifact có thể kéo dài khoảng ba ngày. Đầu ra không chỉ cần dễ đọc mà còn phải có schema đủ chặt để backend lưu trữ, reviewer chỉnh sửa và hệ thống automation chạy tiếp.</a:t>
            </a:r>
          </a:p>
          <a:p/>
          <a:p>
            <a:r>
              <a:t>Trách nhiệm của em là thiết kế workflow ba agent, xây Agent Service bằng FastAPI, chuẩn hóa contract JSON/YAML, phát triển human-in-the-loop và partial rerun, sau đó tham gia đánh giá nội bộ.</a:t>
            </a:r>
          </a:p>
          <a:p/>
          <a:p>
            <a:r>
              <a:t>Nếu bị hỏi stack đầy đủ: frontend React/TypeScript; backend Node.js/Express; agent service Python/FastAPI; Supabase; SSE; Langfuse. Nhưng chỉ nói khi được hỏi.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quyết định cần nhấn mạnh:</a:t>
            </a:r>
          </a:p>
          <a:p>
            <a:r>
              <a:t>1) Segmented context: tài liệu dài được chia theo flow để tránh token overflow và cô lập lỗi.</a:t>
            </a:r>
          </a:p>
          <a:p>
            <a:r>
              <a:t>2) JSON-first: Agent 2/3 tạo representation có schema; validate trước khi render YAML. Format đúng không đồng nghĩa logic đúng, nên vẫn cần human review.</a:t>
            </a:r>
          </a:p>
          <a:p>
            <a:r>
              <a:t>3) Partial rerun: version artifact theo stage, chỉ làm stale downstream thay vì chạy lại toàn bộ.</a:t>
            </a:r>
          </a:p>
          <a:p/>
          <a:p>
            <a:r>
              <a:t>Kết quả trình bày trên slide:</a:t>
            </a:r>
          </a:p>
          <a:p>
            <a:r>
              <a:t>- Workflow thủ công khoảng ba ngày xuống dưới năm phút cho pipeline output.</a:t>
            </a:r>
          </a:p>
          <a:p>
            <a:r>
              <a:t>- Pilot 28 QA Engineers/Developers trong báo cáo nội bộ.</a:t>
            </a:r>
          </a:p>
          <a:p>
            <a:r>
              <a:t>- 88,4% là tỷ lệ YAML chạy thành công ngay trên máy ảo theo báo cáo beta; KHÔNG gọi là accuracy tổng thể.</a:t>
            </a:r>
          </a:p>
          <a:p/>
          <a:p>
            <a:r>
              <a:t>CÂU HỎI: “88,4% được định nghĩa và đo như thế nào?”</a:t>
            </a:r>
          </a:p>
          <a:p/>
          <a:p>
            <a:r>
              <a:t>Trả lời trung thực:</a:t>
            </a:r>
          </a:p>
          <a:p>
            <a:r>
              <a:t>“Đơn vị đánh giá là từng file YAML được hệ thống sinh trong beta. Một mẫu pass khi chạy thành công ngay trên máy ảo mà không cần chỉnh sửa. Người dùng beta là 28 QA Engineers và Developers, kết quả được tổng hợp trong báo cáo nội bộ. Các lỗi phổ biến của 11,6% còn lại là sai element ID hoặc thiếu assertion step. Repo hiện lưu tỷ lệ 88,4% nhưng chưa lưu tổng số YAML được chấm, vì vậy trước buổi phỏng vấn em cần xác nhận mẫu số N với nhóm; em không muốn biến một tỷ lệ pilot thành tuyên bố thống kê mạnh hơn bằng chứng. Metric cũng chỉ đo khả năng chạy lần đầu, chưa chứng minh semantic correctness, coverage đầy đủ hay generalization trên một test set độc lập.”</a:t>
            </a:r>
          </a:p>
          <a:p/>
          <a:p>
            <a:r>
              <a:t>MẪU SỐ: [ĐIỀN N YAML SAU KHI XÁC NHẬN].</a:t>
            </a:r>
          </a:p>
          <a:p/>
          <a:p>
            <a:r>
              <a:t>Nếu interviewer hỏi zero-shot: “Tài liệu hiện có không tách riêng zero-shot benchmark. Em sẽ gọi đúng là first-run execution rate trong beta; muốn đánh giá zero-shot cần cố định prompt/model/test set và không cho feedback trước lần chạy.”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video → YOLO detection → ByteTrack → camera motion compensation bằng Lucas-Kanade Optical Flow → homography → real-world coordinates → speed, distance và possession.</a:t>
            </a:r>
          </a:p>
          <a:p/>
          <a:p>
            <a:r>
              <a:t>Thông điệp chính:</a:t>
            </a:r>
          </a:p>
          <a:p>
            <a:r>
              <a:t>“Project này giúp em làm việc với một pipeline mà đầu vào là dữ liệu thị giác không có cấu trúc, nhưng đầu ra cần trở thành tọa độ và sự kiện có ý nghĩa. Tư duy đó gần với các bài toán chuyển ảnh hoặc bản vẽ thành geometry hay representation có cấu trúc trong AEC.”</a:t>
            </a:r>
          </a:p>
          <a:p/>
          <a:p>
            <a:r>
              <a:t>Không nói project tương đương 2D-to-3D trong AEC. Chỉ nói đây là nền tảng về detection, tracking, spatial transformation, coordinate systems và error propagation.</a:t>
            </a:r>
          </a:p>
          <a:p/>
          <a:p>
            <a:r>
              <a:t>Nếu hỏi error propagation: detection jitter ảnh hưởng foot point; camera estimate sai ảnh hưởng adjusted coordinate; homography/calibration sai ảnh hưởng mét; FPS sai ảnh hưởng speed. Vì vậy mAP detector tốt chưa chứng minh tốc độ chính xác.</a:t>
            </a:r>
          </a:p>
          <a:p/>
          <a:p>
            <a:r>
              <a:t>Chi tiết trung thực: artifact huấn luyện ghi yolov5x.pt, 4 class; README ghi YOLOv8 và cần được đồng bộ. Video mẫu 25 FPS nhưng code hiện hard-code 24 FPS.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quan trọng nhất. Nói chậm.</a:t>
            </a:r>
          </a:p>
          <a:p/>
          <a:p>
            <a:r>
              <a:t>1. Problem definition: xác định end user, quyết định AI hỗ trợ, input thật, output editable, constraint bắt buộc và mức lỗi không chấp nhận.</a:t>
            </a:r>
          </a:p>
          <a:p>
            <a:r>
              <a:t>2. Domain representation: trước khi chọn model, xác định representation phù hợp. Với AEC, output thường không nên chỉ là ảnh đẹp mà phải là dữ liệu kiểm tra được: room graph, polygon, wall/opening, adjacency, dimension, semantic object và design constraint.</a:t>
            </a:r>
          </a:p>
          <a:p>
            <a:r>
              <a:t>3. Baseline: không bắt đầu ngay bằng diffusion hoặc fine-tuning. Xây baseline nhỏ nhất có thể đo: parser → structured intermediate representation → rule-based generator → constraint validator → editable output.</a:t>
            </a:r>
          </a:p>
          <a:p>
            <a:r>
              <a:t>4. Prototype architecture: tách parser/model/validator/storage/UI để thay model mà không phá workflow.</a:t>
            </a:r>
          </a:p>
          <a:p>
            <a:r>
              <a:t>5. Evaluation: metric theo nghiệp vụ; geometry validity, constraint violations, field accuracy, edit time, false negative nghiêm trọng.</a:t>
            </a:r>
          </a:p>
          <a:p>
            <a:r>
              <a:t>6. Expert loop: architect/engineer review, lưu correction, active learning và regression set.</a:t>
            </a:r>
          </a:p>
          <a:p/>
          <a:p>
            <a:r>
              <a:t>Ví dụ nếu input là bản vẽ PDF: trước tiên xác định PDF vector hay scan. Vector thì ưu tiên parse text/path/layer; scan mới cần OCR/detection/segmentation. Với bản vẽ rất lớn dùng tiled inference và merge về global coordinates. Representation có thể là graph với room/wall/opening nodes và adjacency edges.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Vì sao vị trí phù hợp:</a:t>
            </a:r>
          </a:p>
          <a:p>
            <a:r>
              <a:t>“Điểm em quan tâm không chỉ là dùng LLM để trò chuyện, mà là kết nối AI với dữ liệu và công cụ chuyên ngành. Các bài toán image-to-script, agentic workflow và generative geometry đều cần kết hợp model, representation, validation và software engineering. Đây là hướng em muốn phát triển lâu dài.”</a:t>
            </a:r>
          </a:p>
          <a:p/>
          <a:p>
            <a:r>
              <a:t>30 ngày đầu: shadow workflow kiến trúc sư/kỹ sư; hiểu input, tool, vocabulary và failure cost; chọn một use case nhỏ; tạo evaluation set với chuyên gia.</a:t>
            </a:r>
          </a:p>
          <a:p/>
          <a:p>
            <a:r>
              <a:t>30 ngày tiếp: baseline end-to-end; logging/model-data versioning; metric kỹ thuật và metric edit-time; review định kỳ với người dùng nội bộ.</a:t>
            </a:r>
          </a:p>
          <a:p/>
          <a:p>
            <a:r>
              <a:t>30 ngày cuối: so sánh model/rule/hybrid paths; tối ưu accuracy, latency và editability; viết roadmap với risk, data need và tiêu chí production.</a:t>
            </a:r>
          </a:p>
          <a:p/>
          <a:p>
            <a:r>
              <a:t>Câu chốt:</a:t>
            </a:r>
          </a:p>
          <a:p>
            <a:r>
              <a:t>“Mục tiêu 90 ngày của em không phải demo nhiều model nhất, mà là chứng minh một workflow nhỏ có giá trị, đo được và có đường phát triển thành internal tool.”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818120" y="-594360"/>
            <a:ext cx="5212080" cy="7498079"/>
          </a:xfrm>
          <a:prstGeom prst="rect">
            <a:avLst/>
          </a:prstGeom>
          <a:solidFill>
            <a:srgbClr val="0D1C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63840"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577072"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290304"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003536"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716767"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430000"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143232" y="0"/>
            <a:ext cx="0" cy="685800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18120" y="0"/>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18120" y="713232"/>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818120" y="1426464"/>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18120" y="2139696"/>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818120" y="2852928"/>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818120" y="3566160"/>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818120" y="4279392"/>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18120" y="4992624"/>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818120" y="5705856"/>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818120" y="6419088"/>
            <a:ext cx="4370832" cy="0"/>
          </a:xfrm>
          <a:prstGeom prst="line">
            <a:avLst/>
          </a:prstGeom>
          <a:ln w="6985">
            <a:solidFill>
              <a:srgbClr val="26415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566928"/>
            <a:ext cx="4114800" cy="274320"/>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APPLIED AI · PORTFOLIO</a:t>
            </a:r>
          </a:p>
        </p:txBody>
      </p:sp>
      <p:sp>
        <p:nvSpPr>
          <p:cNvPr id="22" name="TextBox 21"/>
          <p:cNvSpPr txBox="1"/>
          <p:nvPr/>
        </p:nvSpPr>
        <p:spPr>
          <a:xfrm>
            <a:off x="594360" y="1170432"/>
            <a:ext cx="6629400" cy="658368"/>
          </a:xfrm>
          <a:prstGeom prst="rect">
            <a:avLst/>
          </a:prstGeom>
          <a:noFill/>
        </p:spPr>
        <p:txBody>
          <a:bodyPr wrap="none" lIns="0" rIns="0" tIns="0" bIns="0" anchor="t">
            <a:spAutoFit/>
          </a:bodyPr>
          <a:lstStyle/>
          <a:p>
            <a:pPr algn="l">
              <a:lnSpc>
                <a:spcPct val="100000"/>
              </a:lnSpc>
            </a:pPr>
            <a:r>
              <a:rPr sz="3600" b="1">
                <a:solidFill>
                  <a:srgbClr val="F6F8FB"/>
                </a:solidFill>
                <a:latin typeface="Aptos"/>
              </a:rPr>
              <a:t>Đỗ Trọng Minh</a:t>
            </a:r>
          </a:p>
        </p:txBody>
      </p:sp>
      <p:sp>
        <p:nvSpPr>
          <p:cNvPr id="23" name="TextBox 22"/>
          <p:cNvSpPr txBox="1"/>
          <p:nvPr/>
        </p:nvSpPr>
        <p:spPr>
          <a:xfrm>
            <a:off x="621792" y="1874519"/>
            <a:ext cx="5943600" cy="429768"/>
          </a:xfrm>
          <a:prstGeom prst="rect">
            <a:avLst/>
          </a:prstGeom>
          <a:noFill/>
        </p:spPr>
        <p:txBody>
          <a:bodyPr wrap="none" lIns="0" rIns="0" tIns="0" bIns="0" anchor="t">
            <a:spAutoFit/>
          </a:bodyPr>
          <a:lstStyle/>
          <a:p>
            <a:pPr algn="l">
              <a:lnSpc>
                <a:spcPct val="100000"/>
              </a:lnSpc>
            </a:pPr>
            <a:r>
              <a:rPr sz="2000" b="1">
                <a:solidFill>
                  <a:srgbClr val="B7F34A"/>
                </a:solidFill>
                <a:latin typeface="Aptos"/>
              </a:rPr>
              <a:t>Applied AI Engineer</a:t>
            </a:r>
          </a:p>
        </p:txBody>
      </p:sp>
      <p:sp>
        <p:nvSpPr>
          <p:cNvPr id="24" name="TextBox 23"/>
          <p:cNvSpPr txBox="1"/>
          <p:nvPr/>
        </p:nvSpPr>
        <p:spPr>
          <a:xfrm>
            <a:off x="621792" y="2578608"/>
            <a:ext cx="6172200" cy="960120"/>
          </a:xfrm>
          <a:prstGeom prst="rect">
            <a:avLst/>
          </a:prstGeom>
          <a:noFill/>
        </p:spPr>
        <p:txBody>
          <a:bodyPr wrap="none" lIns="0" rIns="0" tIns="0" bIns="0" anchor="t">
            <a:spAutoFit/>
          </a:bodyPr>
          <a:lstStyle/>
          <a:p>
            <a:pPr algn="l">
              <a:lnSpc>
                <a:spcPct val="100000"/>
              </a:lnSpc>
            </a:pPr>
            <a:r>
              <a:rPr sz="1900" b="0">
                <a:solidFill>
                  <a:srgbClr val="F6F8FB"/>
                </a:solidFill>
                <a:latin typeface="Aptos"/>
              </a:rPr>
              <a:t>Building AI systems that turn unstructured input
into validated, editable workflows.</a:t>
            </a:r>
          </a:p>
        </p:txBody>
      </p:sp>
      <p:sp>
        <p:nvSpPr>
          <p:cNvPr id="25" name="Rounded Rectangle 24"/>
          <p:cNvSpPr/>
          <p:nvPr/>
        </p:nvSpPr>
        <p:spPr>
          <a:xfrm>
            <a:off x="621792" y="4069080"/>
            <a:ext cx="2496312" cy="1188720"/>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86384" y="4233672"/>
            <a:ext cx="457200" cy="457200"/>
          </a:xfrm>
          <a:prstGeom prst="roundRect">
            <a:avLst/>
          </a:prstGeom>
          <a:solidFill>
            <a:srgbClr val="42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233672"/>
            <a:ext cx="457200" cy="457200"/>
          </a:xfrm>
          <a:prstGeom prst="rect">
            <a:avLst/>
          </a:prstGeom>
          <a:noFill/>
        </p:spPr>
        <p:txBody>
          <a:bodyPr wrap="none" lIns="0" rIns="0" tIns="0" bIns="0" anchor="ctr">
            <a:spAutoFit/>
          </a:bodyPr>
          <a:lstStyle/>
          <a:p>
            <a:pPr algn="ctr">
              <a:lnSpc>
                <a:spcPct val="100000"/>
              </a:lnSpc>
            </a:pPr>
            <a:r>
              <a:rPr sz="1100" b="1">
                <a:solidFill>
                  <a:srgbClr val="081321"/>
                </a:solidFill>
                <a:latin typeface="Aptos"/>
              </a:rPr>
              <a:t>01</a:t>
            </a:r>
          </a:p>
        </p:txBody>
      </p:sp>
      <p:sp>
        <p:nvSpPr>
          <p:cNvPr id="28" name="TextBox 27"/>
          <p:cNvSpPr txBox="1"/>
          <p:nvPr/>
        </p:nvSpPr>
        <p:spPr>
          <a:xfrm>
            <a:off x="1371600" y="4224528"/>
            <a:ext cx="1581912" cy="310896"/>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LLM Agents</a:t>
            </a:r>
          </a:p>
        </p:txBody>
      </p:sp>
      <p:sp>
        <p:nvSpPr>
          <p:cNvPr id="29" name="TextBox 28"/>
          <p:cNvSpPr txBox="1"/>
          <p:nvPr/>
        </p:nvSpPr>
        <p:spPr>
          <a:xfrm>
            <a:off x="1371600" y="4572000"/>
            <a:ext cx="1572768" cy="475488"/>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Structured generation
&amp; human review</a:t>
            </a:r>
          </a:p>
        </p:txBody>
      </p:sp>
      <p:sp>
        <p:nvSpPr>
          <p:cNvPr id="30" name="Rounded Rectangle 29"/>
          <p:cNvSpPr/>
          <p:nvPr/>
        </p:nvSpPr>
        <p:spPr>
          <a:xfrm>
            <a:off x="3364992" y="4069080"/>
            <a:ext cx="2496312" cy="1188720"/>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3529584" y="4233672"/>
            <a:ext cx="457200" cy="457200"/>
          </a:xfrm>
          <a:prstGeom prst="roundRect">
            <a:avLst/>
          </a:prstGeom>
          <a:solidFill>
            <a:srgbClr val="B7F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9584" y="4233672"/>
            <a:ext cx="457200" cy="457200"/>
          </a:xfrm>
          <a:prstGeom prst="rect">
            <a:avLst/>
          </a:prstGeom>
          <a:noFill/>
        </p:spPr>
        <p:txBody>
          <a:bodyPr wrap="none" lIns="0" rIns="0" tIns="0" bIns="0" anchor="ctr">
            <a:spAutoFit/>
          </a:bodyPr>
          <a:lstStyle/>
          <a:p>
            <a:pPr algn="ctr">
              <a:lnSpc>
                <a:spcPct val="100000"/>
              </a:lnSpc>
            </a:pPr>
            <a:r>
              <a:rPr sz="1100" b="1">
                <a:solidFill>
                  <a:srgbClr val="081321"/>
                </a:solidFill>
                <a:latin typeface="Aptos"/>
              </a:rPr>
              <a:t>02</a:t>
            </a:r>
          </a:p>
        </p:txBody>
      </p:sp>
      <p:sp>
        <p:nvSpPr>
          <p:cNvPr id="33" name="TextBox 32"/>
          <p:cNvSpPr txBox="1"/>
          <p:nvPr/>
        </p:nvSpPr>
        <p:spPr>
          <a:xfrm>
            <a:off x="4114800" y="4224528"/>
            <a:ext cx="1581912" cy="310896"/>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Computer Vision</a:t>
            </a:r>
          </a:p>
        </p:txBody>
      </p:sp>
      <p:sp>
        <p:nvSpPr>
          <p:cNvPr id="34" name="TextBox 33"/>
          <p:cNvSpPr txBox="1"/>
          <p:nvPr/>
        </p:nvSpPr>
        <p:spPr>
          <a:xfrm>
            <a:off x="4114800" y="4572000"/>
            <a:ext cx="1572768" cy="475488"/>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Tracking &amp; spatial
reasoning</a:t>
            </a:r>
          </a:p>
        </p:txBody>
      </p:sp>
      <p:sp>
        <p:nvSpPr>
          <p:cNvPr id="35" name="Rounded Rectangle 34"/>
          <p:cNvSpPr/>
          <p:nvPr/>
        </p:nvSpPr>
        <p:spPr>
          <a:xfrm>
            <a:off x="621792" y="5422392"/>
            <a:ext cx="2496312" cy="1188720"/>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86384" y="5586983"/>
            <a:ext cx="457200" cy="457200"/>
          </a:xfrm>
          <a:prstGeom prst="roundRect">
            <a:avLst/>
          </a:prstGeom>
          <a:solidFill>
            <a:srgbClr val="FFB6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6384" y="5586983"/>
            <a:ext cx="457200" cy="457200"/>
          </a:xfrm>
          <a:prstGeom prst="rect">
            <a:avLst/>
          </a:prstGeom>
          <a:noFill/>
        </p:spPr>
        <p:txBody>
          <a:bodyPr wrap="none" lIns="0" rIns="0" tIns="0" bIns="0" anchor="ctr">
            <a:spAutoFit/>
          </a:bodyPr>
          <a:lstStyle/>
          <a:p>
            <a:pPr algn="ctr">
              <a:lnSpc>
                <a:spcPct val="100000"/>
              </a:lnSpc>
            </a:pPr>
            <a:r>
              <a:rPr sz="1100" b="1">
                <a:solidFill>
                  <a:srgbClr val="081321"/>
                </a:solidFill>
                <a:latin typeface="Aptos"/>
              </a:rPr>
              <a:t>03</a:t>
            </a:r>
          </a:p>
        </p:txBody>
      </p:sp>
      <p:sp>
        <p:nvSpPr>
          <p:cNvPr id="38" name="TextBox 37"/>
          <p:cNvSpPr txBox="1"/>
          <p:nvPr/>
        </p:nvSpPr>
        <p:spPr>
          <a:xfrm>
            <a:off x="1371600" y="5577840"/>
            <a:ext cx="1581912" cy="310896"/>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Backend / API</a:t>
            </a:r>
          </a:p>
        </p:txBody>
      </p:sp>
      <p:sp>
        <p:nvSpPr>
          <p:cNvPr id="39" name="TextBox 38"/>
          <p:cNvSpPr txBox="1"/>
          <p:nvPr/>
        </p:nvSpPr>
        <p:spPr>
          <a:xfrm>
            <a:off x="1371600" y="5925312"/>
            <a:ext cx="1572768" cy="475488"/>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Workflow services
&amp; integration</a:t>
            </a:r>
          </a:p>
        </p:txBody>
      </p:sp>
      <p:sp>
        <p:nvSpPr>
          <p:cNvPr id="40" name="Rounded Rectangle 39"/>
          <p:cNvSpPr/>
          <p:nvPr/>
        </p:nvSpPr>
        <p:spPr>
          <a:xfrm>
            <a:off x="3364992" y="5422392"/>
            <a:ext cx="2496312" cy="1188720"/>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529584" y="5586983"/>
            <a:ext cx="457200" cy="457200"/>
          </a:xfrm>
          <a:prstGeom prst="roundRect">
            <a:avLst/>
          </a:prstGeom>
          <a:solidFill>
            <a:srgbClr val="FF72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529584" y="5586983"/>
            <a:ext cx="457200" cy="457200"/>
          </a:xfrm>
          <a:prstGeom prst="rect">
            <a:avLst/>
          </a:prstGeom>
          <a:noFill/>
        </p:spPr>
        <p:txBody>
          <a:bodyPr wrap="none" lIns="0" rIns="0" tIns="0" bIns="0" anchor="ctr">
            <a:spAutoFit/>
          </a:bodyPr>
          <a:lstStyle/>
          <a:p>
            <a:pPr algn="ctr">
              <a:lnSpc>
                <a:spcPct val="100000"/>
              </a:lnSpc>
            </a:pPr>
            <a:r>
              <a:rPr sz="1100" b="1">
                <a:solidFill>
                  <a:srgbClr val="081321"/>
                </a:solidFill>
                <a:latin typeface="Aptos"/>
              </a:rPr>
              <a:t>04</a:t>
            </a:r>
          </a:p>
        </p:txBody>
      </p:sp>
      <p:sp>
        <p:nvSpPr>
          <p:cNvPr id="43" name="TextBox 42"/>
          <p:cNvSpPr txBox="1"/>
          <p:nvPr/>
        </p:nvSpPr>
        <p:spPr>
          <a:xfrm>
            <a:off x="4114800" y="5577840"/>
            <a:ext cx="1581912" cy="310896"/>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Product AI</a:t>
            </a:r>
          </a:p>
        </p:txBody>
      </p:sp>
      <p:sp>
        <p:nvSpPr>
          <p:cNvPr id="44" name="TextBox 43"/>
          <p:cNvSpPr txBox="1"/>
          <p:nvPr/>
        </p:nvSpPr>
        <p:spPr>
          <a:xfrm>
            <a:off x="4114800" y="5925312"/>
            <a:ext cx="1572768" cy="475488"/>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Evaluation to
real-world use</a:t>
            </a:r>
          </a:p>
        </p:txBody>
      </p:sp>
      <p:sp>
        <p:nvSpPr>
          <p:cNvPr id="45" name="Rounded Rectangle 44"/>
          <p:cNvSpPr/>
          <p:nvPr/>
        </p:nvSpPr>
        <p:spPr>
          <a:xfrm>
            <a:off x="8595360" y="1051560"/>
            <a:ext cx="2697480" cy="4526280"/>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5400" y="1417320"/>
            <a:ext cx="2057400" cy="256032"/>
          </a:xfrm>
          <a:prstGeom prst="rect">
            <a:avLst/>
          </a:prstGeom>
          <a:noFill/>
        </p:spPr>
        <p:txBody>
          <a:bodyPr wrap="none" lIns="0" rIns="0" tIns="0" bIns="0" anchor="t">
            <a:spAutoFit/>
          </a:bodyPr>
          <a:lstStyle/>
          <a:p>
            <a:pPr algn="l">
              <a:lnSpc>
                <a:spcPct val="100000"/>
              </a:lnSpc>
            </a:pPr>
            <a:r>
              <a:rPr sz="900" b="1">
                <a:solidFill>
                  <a:srgbClr val="A8B8C8"/>
                </a:solidFill>
                <a:latin typeface="Aptos"/>
              </a:rPr>
              <a:t>POSITIONING</a:t>
            </a:r>
          </a:p>
        </p:txBody>
      </p:sp>
      <p:sp>
        <p:nvSpPr>
          <p:cNvPr id="47" name="TextBox 46"/>
          <p:cNvSpPr txBox="1"/>
          <p:nvPr/>
        </p:nvSpPr>
        <p:spPr>
          <a:xfrm>
            <a:off x="8915400" y="2002536"/>
            <a:ext cx="1280160" cy="219456"/>
          </a:xfrm>
          <a:prstGeom prst="rect">
            <a:avLst/>
          </a:prstGeom>
          <a:noFill/>
        </p:spPr>
        <p:txBody>
          <a:bodyPr wrap="none" lIns="0" rIns="0" tIns="0" bIns="0" anchor="t">
            <a:spAutoFit/>
          </a:bodyPr>
          <a:lstStyle/>
          <a:p>
            <a:pPr algn="l">
              <a:lnSpc>
                <a:spcPct val="100000"/>
              </a:lnSpc>
            </a:pPr>
            <a:r>
              <a:rPr sz="900" b="1">
                <a:solidFill>
                  <a:srgbClr val="42D3E8"/>
                </a:solidFill>
                <a:latin typeface="Aptos"/>
              </a:rPr>
              <a:t>MODEL</a:t>
            </a:r>
          </a:p>
        </p:txBody>
      </p:sp>
      <p:sp>
        <p:nvSpPr>
          <p:cNvPr id="48" name="TextBox 47"/>
          <p:cNvSpPr txBox="1"/>
          <p:nvPr/>
        </p:nvSpPr>
        <p:spPr>
          <a:xfrm>
            <a:off x="9765792" y="2322576"/>
            <a:ext cx="457200" cy="365760"/>
          </a:xfrm>
          <a:prstGeom prst="rect">
            <a:avLst/>
          </a:prstGeom>
          <a:noFill/>
        </p:spPr>
        <p:txBody>
          <a:bodyPr wrap="none" lIns="0" rIns="0" tIns="0" bIns="0" anchor="t">
            <a:spAutoFit/>
          </a:bodyPr>
          <a:lstStyle/>
          <a:p>
            <a:pPr algn="ctr">
              <a:lnSpc>
                <a:spcPct val="100000"/>
              </a:lnSpc>
            </a:pPr>
            <a:r>
              <a:rPr sz="2000" b="1">
                <a:solidFill>
                  <a:srgbClr val="A8B8C8"/>
                </a:solidFill>
                <a:latin typeface="Aptos"/>
              </a:rPr>
              <a:t>+</a:t>
            </a:r>
          </a:p>
        </p:txBody>
      </p:sp>
      <p:sp>
        <p:nvSpPr>
          <p:cNvPr id="49" name="TextBox 48"/>
          <p:cNvSpPr txBox="1"/>
          <p:nvPr/>
        </p:nvSpPr>
        <p:spPr>
          <a:xfrm>
            <a:off x="8915400" y="2761488"/>
            <a:ext cx="2011680" cy="219456"/>
          </a:xfrm>
          <a:prstGeom prst="rect">
            <a:avLst/>
          </a:prstGeom>
          <a:noFill/>
        </p:spPr>
        <p:txBody>
          <a:bodyPr wrap="none" lIns="0" rIns="0" tIns="0" bIns="0" anchor="t">
            <a:spAutoFit/>
          </a:bodyPr>
          <a:lstStyle/>
          <a:p>
            <a:pPr algn="l">
              <a:lnSpc>
                <a:spcPct val="100000"/>
              </a:lnSpc>
            </a:pPr>
            <a:r>
              <a:rPr sz="900" b="1">
                <a:solidFill>
                  <a:srgbClr val="B7F34A"/>
                </a:solidFill>
                <a:latin typeface="Aptos"/>
              </a:rPr>
              <a:t>REPRESENTATION</a:t>
            </a:r>
          </a:p>
        </p:txBody>
      </p:sp>
      <p:sp>
        <p:nvSpPr>
          <p:cNvPr id="50" name="TextBox 49"/>
          <p:cNvSpPr txBox="1"/>
          <p:nvPr/>
        </p:nvSpPr>
        <p:spPr>
          <a:xfrm>
            <a:off x="9765792" y="3081528"/>
            <a:ext cx="457200" cy="365760"/>
          </a:xfrm>
          <a:prstGeom prst="rect">
            <a:avLst/>
          </a:prstGeom>
          <a:noFill/>
        </p:spPr>
        <p:txBody>
          <a:bodyPr wrap="none" lIns="0" rIns="0" tIns="0" bIns="0" anchor="t">
            <a:spAutoFit/>
          </a:bodyPr>
          <a:lstStyle/>
          <a:p>
            <a:pPr algn="ctr">
              <a:lnSpc>
                <a:spcPct val="100000"/>
              </a:lnSpc>
            </a:pPr>
            <a:r>
              <a:rPr sz="2000" b="1">
                <a:solidFill>
                  <a:srgbClr val="A8B8C8"/>
                </a:solidFill>
                <a:latin typeface="Aptos"/>
              </a:rPr>
              <a:t>+</a:t>
            </a:r>
          </a:p>
        </p:txBody>
      </p:sp>
      <p:sp>
        <p:nvSpPr>
          <p:cNvPr id="51" name="TextBox 50"/>
          <p:cNvSpPr txBox="1"/>
          <p:nvPr/>
        </p:nvSpPr>
        <p:spPr>
          <a:xfrm>
            <a:off x="8915400" y="3529584"/>
            <a:ext cx="2011680" cy="219456"/>
          </a:xfrm>
          <a:prstGeom prst="rect">
            <a:avLst/>
          </a:prstGeom>
          <a:noFill/>
        </p:spPr>
        <p:txBody>
          <a:bodyPr wrap="none" lIns="0" rIns="0" tIns="0" bIns="0" anchor="t">
            <a:spAutoFit/>
          </a:bodyPr>
          <a:lstStyle/>
          <a:p>
            <a:pPr algn="l">
              <a:lnSpc>
                <a:spcPct val="100000"/>
              </a:lnSpc>
            </a:pPr>
            <a:r>
              <a:rPr sz="900" b="1">
                <a:solidFill>
                  <a:srgbClr val="FFB65C"/>
                </a:solidFill>
                <a:latin typeface="Aptos"/>
              </a:rPr>
              <a:t>VALIDATION</a:t>
            </a:r>
          </a:p>
        </p:txBody>
      </p:sp>
      <p:sp>
        <p:nvSpPr>
          <p:cNvPr id="52" name="TextBox 51"/>
          <p:cNvSpPr txBox="1"/>
          <p:nvPr/>
        </p:nvSpPr>
        <p:spPr>
          <a:xfrm>
            <a:off x="9765792" y="3849624"/>
            <a:ext cx="457200" cy="365760"/>
          </a:xfrm>
          <a:prstGeom prst="rect">
            <a:avLst/>
          </a:prstGeom>
          <a:noFill/>
        </p:spPr>
        <p:txBody>
          <a:bodyPr wrap="none" lIns="0" rIns="0" tIns="0" bIns="0" anchor="t">
            <a:spAutoFit/>
          </a:bodyPr>
          <a:lstStyle/>
          <a:p>
            <a:pPr algn="ctr">
              <a:lnSpc>
                <a:spcPct val="100000"/>
              </a:lnSpc>
            </a:pPr>
            <a:r>
              <a:rPr sz="2000" b="1">
                <a:solidFill>
                  <a:srgbClr val="A8B8C8"/>
                </a:solidFill>
                <a:latin typeface="Aptos"/>
              </a:rPr>
              <a:t>+</a:t>
            </a:r>
          </a:p>
        </p:txBody>
      </p:sp>
      <p:sp>
        <p:nvSpPr>
          <p:cNvPr id="53" name="TextBox 52"/>
          <p:cNvSpPr txBox="1"/>
          <p:nvPr/>
        </p:nvSpPr>
        <p:spPr>
          <a:xfrm>
            <a:off x="8915400" y="4297680"/>
            <a:ext cx="2011680" cy="219456"/>
          </a:xfrm>
          <a:prstGeom prst="rect">
            <a:avLst/>
          </a:prstGeom>
          <a:noFill/>
        </p:spPr>
        <p:txBody>
          <a:bodyPr wrap="none" lIns="0" rIns="0" tIns="0" bIns="0" anchor="t">
            <a:spAutoFit/>
          </a:bodyPr>
          <a:lstStyle/>
          <a:p>
            <a:pPr algn="l">
              <a:lnSpc>
                <a:spcPct val="100000"/>
              </a:lnSpc>
            </a:pPr>
            <a:r>
              <a:rPr sz="900" b="1">
                <a:solidFill>
                  <a:srgbClr val="FF7272"/>
                </a:solidFill>
                <a:latin typeface="Aptos"/>
              </a:rPr>
              <a:t>SOFTWARE</a:t>
            </a:r>
          </a:p>
        </p:txBody>
      </p:sp>
      <p:sp>
        <p:nvSpPr>
          <p:cNvPr id="54" name="TextBox 53"/>
          <p:cNvSpPr txBox="1"/>
          <p:nvPr/>
        </p:nvSpPr>
        <p:spPr>
          <a:xfrm>
            <a:off x="8915400" y="4873752"/>
            <a:ext cx="2011680" cy="310896"/>
          </a:xfrm>
          <a:prstGeom prst="rect">
            <a:avLst/>
          </a:prstGeom>
          <a:noFill/>
        </p:spPr>
        <p:txBody>
          <a:bodyPr wrap="none" lIns="0" rIns="0" tIns="0" bIns="0" anchor="t">
            <a:spAutoFit/>
          </a:bodyPr>
          <a:lstStyle/>
          <a:p>
            <a:pPr algn="l">
              <a:lnSpc>
                <a:spcPct val="100000"/>
              </a:lnSpc>
            </a:pPr>
            <a:r>
              <a:rPr sz="1600" b="1">
                <a:solidFill>
                  <a:srgbClr val="F6F8FB"/>
                </a:solidFill>
                <a:latin typeface="Aptos"/>
              </a:rPr>
              <a:t>→ usable AI</a:t>
            </a:r>
          </a:p>
        </p:txBody>
      </p:sp>
      <p:cxnSp>
        <p:nvCxnSpPr>
          <p:cNvPr id="55" name="Connector 54"/>
          <p:cNvCxnSpPr/>
          <p:nvPr/>
        </p:nvCxnSpPr>
        <p:spPr>
          <a:xfrm>
            <a:off x="502920" y="6492240"/>
            <a:ext cx="11183112" cy="0"/>
          </a:xfrm>
          <a:prstGeom prst="line">
            <a:avLst/>
          </a:prstGeom>
          <a:ln w="10160">
            <a:solidFill>
              <a:srgbClr val="26415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556248"/>
            <a:ext cx="4023360" cy="164592"/>
          </a:xfrm>
          <a:prstGeom prst="rect">
            <a:avLst/>
          </a:prstGeom>
          <a:noFill/>
        </p:spPr>
        <p:txBody>
          <a:bodyPr wrap="none" lIns="0" rIns="0" tIns="0" bIns="0" anchor="t">
            <a:spAutoFit/>
          </a:bodyPr>
          <a:lstStyle/>
          <a:p>
            <a:pPr algn="l">
              <a:lnSpc>
                <a:spcPct val="100000"/>
              </a:lnSpc>
            </a:pPr>
            <a:r>
              <a:rPr sz="750" b="1">
                <a:solidFill>
                  <a:srgbClr val="A8B8C8"/>
                </a:solidFill>
                <a:latin typeface="Aptos"/>
              </a:rPr>
              <a:t>ĐỖ TRỌNG MINH · APPLIED AI ENGINEER</a:t>
            </a:r>
          </a:p>
        </p:txBody>
      </p:sp>
      <p:sp>
        <p:nvSpPr>
          <p:cNvPr id="57" name="TextBox 56"/>
          <p:cNvSpPr txBox="1"/>
          <p:nvPr/>
        </p:nvSpPr>
        <p:spPr>
          <a:xfrm>
            <a:off x="8412480" y="6556248"/>
            <a:ext cx="3273552" cy="164592"/>
          </a:xfrm>
          <a:prstGeom prst="rect">
            <a:avLst/>
          </a:prstGeom>
          <a:noFill/>
        </p:spPr>
        <p:txBody>
          <a:bodyPr wrap="none" lIns="0" rIns="0" tIns="0" bIns="0" anchor="t">
            <a:spAutoFit/>
          </a:bodyPr>
          <a:lstStyle/>
          <a:p>
            <a:pPr algn="r">
              <a:lnSpc>
                <a:spcPct val="100000"/>
              </a:lnSpc>
            </a:pPr>
            <a:r>
              <a:rPr sz="750" b="1">
                <a:solidFill>
                  <a:srgbClr val="A8B8C8"/>
                </a:solidFill>
                <a:latin typeface="Aptos"/>
              </a:rPr>
              <a:t>PROFILE &amp; POSITIONING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502920" cy="292608"/>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02</a:t>
            </a:r>
          </a:p>
        </p:txBody>
      </p:sp>
      <p:cxnSp>
        <p:nvCxnSpPr>
          <p:cNvPr id="4" name="Connector 3"/>
          <p:cNvCxnSpPr/>
          <p:nvPr/>
        </p:nvCxnSpPr>
        <p:spPr>
          <a:xfrm>
            <a:off x="1051560" y="502920"/>
            <a:ext cx="521208" cy="0"/>
          </a:xfrm>
          <a:prstGeom prst="line">
            <a:avLst/>
          </a:prstGeom>
          <a:ln w="19050">
            <a:solidFill>
              <a:srgbClr val="42D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82496" y="347472"/>
            <a:ext cx="4389120" cy="292608"/>
          </a:xfrm>
          <a:prstGeom prst="rect">
            <a:avLst/>
          </a:prstGeom>
          <a:noFill/>
        </p:spPr>
        <p:txBody>
          <a:bodyPr wrap="none" lIns="0" rIns="0" tIns="0" bIns="0" anchor="t">
            <a:spAutoFit/>
          </a:bodyPr>
          <a:lstStyle/>
          <a:p>
            <a:pPr algn="l">
              <a:lnSpc>
                <a:spcPct val="100000"/>
              </a:lnSpc>
            </a:pPr>
            <a:r>
              <a:rPr sz="1000" b="1">
                <a:solidFill>
                  <a:srgbClr val="A8B8C8"/>
                </a:solidFill>
                <a:latin typeface="Aptos"/>
              </a:rPr>
              <a:t>CASE STUDY 01</a:t>
            </a:r>
          </a:p>
        </p:txBody>
      </p:sp>
      <p:sp>
        <p:nvSpPr>
          <p:cNvPr id="6" name="TextBox 5"/>
          <p:cNvSpPr txBox="1"/>
          <p:nvPr/>
        </p:nvSpPr>
        <p:spPr>
          <a:xfrm>
            <a:off x="502920" y="749808"/>
            <a:ext cx="11109960" cy="566928"/>
          </a:xfrm>
          <a:prstGeom prst="rect">
            <a:avLst/>
          </a:prstGeom>
          <a:noFill/>
        </p:spPr>
        <p:txBody>
          <a:bodyPr wrap="none" lIns="0" rIns="0" tIns="0" bIns="0" anchor="t">
            <a:spAutoFit/>
          </a:bodyPr>
          <a:lstStyle/>
          <a:p>
            <a:pPr algn="l">
              <a:lnSpc>
                <a:spcPct val="100000"/>
              </a:lnSpc>
            </a:pPr>
            <a:r>
              <a:rPr sz="2800" b="1">
                <a:solidFill>
                  <a:srgbClr val="F6F8FB"/>
                </a:solidFill>
                <a:latin typeface="Aptos"/>
              </a:rPr>
              <a:t>Mobile Auto Testcase Generator</a:t>
            </a:r>
          </a:p>
        </p:txBody>
      </p:sp>
      <p:sp>
        <p:nvSpPr>
          <p:cNvPr id="7" name="TextBox 6"/>
          <p:cNvSpPr txBox="1"/>
          <p:nvPr/>
        </p:nvSpPr>
        <p:spPr>
          <a:xfrm>
            <a:off x="521207" y="1307592"/>
            <a:ext cx="10789920" cy="329184"/>
          </a:xfrm>
          <a:prstGeom prst="rect">
            <a:avLst/>
          </a:prstGeom>
          <a:noFill/>
        </p:spPr>
        <p:txBody>
          <a:bodyPr wrap="none" lIns="0" rIns="0" tIns="0" bIns="0" anchor="t">
            <a:spAutoFit/>
          </a:bodyPr>
          <a:lstStyle/>
          <a:p>
            <a:pPr algn="l">
              <a:lnSpc>
                <a:spcPct val="100000"/>
              </a:lnSpc>
            </a:pPr>
            <a:r>
              <a:rPr sz="1100" b="0">
                <a:solidFill>
                  <a:srgbClr val="A8B8C8"/>
                </a:solidFill>
                <a:latin typeface="Aptos"/>
              </a:rPr>
              <a:t>From product requirements to reviewable automation artifacts</a:t>
            </a:r>
          </a:p>
        </p:txBody>
      </p:sp>
      <p:sp>
        <p:nvSpPr>
          <p:cNvPr id="8" name="Rounded Rectangle 7"/>
          <p:cNvSpPr/>
          <p:nvPr/>
        </p:nvSpPr>
        <p:spPr>
          <a:xfrm>
            <a:off x="502920" y="1874519"/>
            <a:ext cx="4983480" cy="4224528"/>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2176272"/>
            <a:ext cx="2560320" cy="256032"/>
          </a:xfrm>
          <a:prstGeom prst="rect">
            <a:avLst/>
          </a:prstGeom>
          <a:noFill/>
        </p:spPr>
        <p:txBody>
          <a:bodyPr wrap="none" lIns="0" rIns="0" tIns="0" bIns="0" anchor="t">
            <a:spAutoFit/>
          </a:bodyPr>
          <a:lstStyle/>
          <a:p>
            <a:pPr algn="l">
              <a:lnSpc>
                <a:spcPct val="100000"/>
              </a:lnSpc>
            </a:pPr>
            <a:r>
              <a:rPr sz="1000" b="1">
                <a:solidFill>
                  <a:srgbClr val="FFB65C"/>
                </a:solidFill>
                <a:latin typeface="Aptos"/>
              </a:rPr>
              <a:t>BUSINESS PROBLEM</a:t>
            </a:r>
          </a:p>
        </p:txBody>
      </p:sp>
      <p:sp>
        <p:nvSpPr>
          <p:cNvPr id="10" name="TextBox 9"/>
          <p:cNvSpPr txBox="1"/>
          <p:nvPr/>
        </p:nvSpPr>
        <p:spPr>
          <a:xfrm>
            <a:off x="804672" y="2587752"/>
            <a:ext cx="4114800" cy="868680"/>
          </a:xfrm>
          <a:prstGeom prst="rect">
            <a:avLst/>
          </a:prstGeom>
          <a:noFill/>
        </p:spPr>
        <p:txBody>
          <a:bodyPr wrap="none" lIns="0" rIns="0" tIns="0" bIns="0" anchor="t">
            <a:spAutoFit/>
          </a:bodyPr>
          <a:lstStyle/>
          <a:p>
            <a:pPr algn="l">
              <a:lnSpc>
                <a:spcPct val="100000"/>
              </a:lnSpc>
            </a:pPr>
            <a:r>
              <a:rPr sz="2500" b="1">
                <a:solidFill>
                  <a:srgbClr val="F6F8FB"/>
                </a:solidFill>
                <a:latin typeface="Aptos"/>
              </a:rPr>
              <a:t>Manual QA authoring
was the bottleneck.</a:t>
            </a:r>
          </a:p>
        </p:txBody>
      </p:sp>
      <p:sp>
        <p:nvSpPr>
          <p:cNvPr id="11" name="TextBox 10"/>
          <p:cNvSpPr txBox="1"/>
          <p:nvPr/>
        </p:nvSpPr>
        <p:spPr>
          <a:xfrm>
            <a:off x="822960" y="3822191"/>
            <a:ext cx="1389888" cy="265176"/>
          </a:xfrm>
          <a:prstGeom prst="rect">
            <a:avLst/>
          </a:prstGeom>
          <a:noFill/>
        </p:spPr>
        <p:txBody>
          <a:bodyPr wrap="none" lIns="0" rIns="0" tIns="0" bIns="0" anchor="t">
            <a:spAutoFit/>
          </a:bodyPr>
          <a:lstStyle/>
          <a:p>
            <a:pPr algn="l">
              <a:lnSpc>
                <a:spcPct val="100000"/>
              </a:lnSpc>
            </a:pPr>
            <a:r>
              <a:rPr sz="1200" b="1">
                <a:solidFill>
                  <a:srgbClr val="B7F34A"/>
                </a:solidFill>
                <a:latin typeface="Aptos"/>
              </a:rPr>
              <a:t>~3 days</a:t>
            </a:r>
          </a:p>
        </p:txBody>
      </p:sp>
      <p:sp>
        <p:nvSpPr>
          <p:cNvPr id="12" name="TextBox 11"/>
          <p:cNvSpPr txBox="1"/>
          <p:nvPr/>
        </p:nvSpPr>
        <p:spPr>
          <a:xfrm>
            <a:off x="2240280" y="3822191"/>
            <a:ext cx="2697480" cy="265176"/>
          </a:xfrm>
          <a:prstGeom prst="rect">
            <a:avLst/>
          </a:prstGeom>
          <a:noFill/>
        </p:spPr>
        <p:txBody>
          <a:bodyPr wrap="none" lIns="0" rIns="0" tIns="0" bIns="0" anchor="t">
            <a:spAutoFit/>
          </a:bodyPr>
          <a:lstStyle/>
          <a:p>
            <a:pPr algn="l">
              <a:lnSpc>
                <a:spcPct val="100000"/>
              </a:lnSpc>
            </a:pPr>
            <a:r>
              <a:rPr sz="1050" b="0">
                <a:solidFill>
                  <a:srgbClr val="A8B8C8"/>
                </a:solidFill>
                <a:latin typeface="Aptos"/>
              </a:rPr>
              <a:t>for each feature workflow</a:t>
            </a:r>
          </a:p>
        </p:txBody>
      </p:sp>
      <p:sp>
        <p:nvSpPr>
          <p:cNvPr id="13" name="TextBox 12"/>
          <p:cNvSpPr txBox="1"/>
          <p:nvPr/>
        </p:nvSpPr>
        <p:spPr>
          <a:xfrm>
            <a:off x="822960" y="4453127"/>
            <a:ext cx="1389888" cy="265176"/>
          </a:xfrm>
          <a:prstGeom prst="rect">
            <a:avLst/>
          </a:prstGeom>
          <a:noFill/>
        </p:spPr>
        <p:txBody>
          <a:bodyPr wrap="none" lIns="0" rIns="0" tIns="0" bIns="0" anchor="t">
            <a:spAutoFit/>
          </a:bodyPr>
          <a:lstStyle/>
          <a:p>
            <a:pPr algn="l">
              <a:lnSpc>
                <a:spcPct val="100000"/>
              </a:lnSpc>
            </a:pPr>
            <a:r>
              <a:rPr sz="1200" b="1">
                <a:solidFill>
                  <a:srgbClr val="42D3E8"/>
                </a:solidFill>
                <a:latin typeface="Aptos"/>
              </a:rPr>
              <a:t>PRD → logic</a:t>
            </a:r>
          </a:p>
        </p:txBody>
      </p:sp>
      <p:sp>
        <p:nvSpPr>
          <p:cNvPr id="14" name="TextBox 13"/>
          <p:cNvSpPr txBox="1"/>
          <p:nvPr/>
        </p:nvSpPr>
        <p:spPr>
          <a:xfrm>
            <a:off x="2240280" y="4453127"/>
            <a:ext cx="2697480" cy="265176"/>
          </a:xfrm>
          <a:prstGeom prst="rect">
            <a:avLst/>
          </a:prstGeom>
          <a:noFill/>
        </p:spPr>
        <p:txBody>
          <a:bodyPr wrap="none" lIns="0" rIns="0" tIns="0" bIns="0" anchor="t">
            <a:spAutoFit/>
          </a:bodyPr>
          <a:lstStyle/>
          <a:p>
            <a:pPr algn="l">
              <a:lnSpc>
                <a:spcPct val="100000"/>
              </a:lnSpc>
            </a:pPr>
            <a:r>
              <a:rPr sz="1050" b="0">
                <a:solidFill>
                  <a:srgbClr val="A8B8C8"/>
                </a:solidFill>
                <a:latin typeface="Aptos"/>
              </a:rPr>
              <a:t>requires domain interpretation</a:t>
            </a:r>
          </a:p>
        </p:txBody>
      </p:sp>
      <p:sp>
        <p:nvSpPr>
          <p:cNvPr id="15" name="TextBox 14"/>
          <p:cNvSpPr txBox="1"/>
          <p:nvPr/>
        </p:nvSpPr>
        <p:spPr>
          <a:xfrm>
            <a:off x="822960" y="5084064"/>
            <a:ext cx="1389888" cy="265176"/>
          </a:xfrm>
          <a:prstGeom prst="rect">
            <a:avLst/>
          </a:prstGeom>
          <a:noFill/>
        </p:spPr>
        <p:txBody>
          <a:bodyPr wrap="none" lIns="0" rIns="0" tIns="0" bIns="0" anchor="t">
            <a:spAutoFit/>
          </a:bodyPr>
          <a:lstStyle/>
          <a:p>
            <a:pPr algn="l">
              <a:lnSpc>
                <a:spcPct val="100000"/>
              </a:lnSpc>
            </a:pPr>
            <a:r>
              <a:rPr sz="1200" b="1">
                <a:solidFill>
                  <a:srgbClr val="42D3E8"/>
                </a:solidFill>
                <a:latin typeface="Aptos"/>
              </a:rPr>
              <a:t>Structured output</a:t>
            </a:r>
          </a:p>
        </p:txBody>
      </p:sp>
      <p:sp>
        <p:nvSpPr>
          <p:cNvPr id="16" name="TextBox 15"/>
          <p:cNvSpPr txBox="1"/>
          <p:nvPr/>
        </p:nvSpPr>
        <p:spPr>
          <a:xfrm>
            <a:off x="2240280" y="5084064"/>
            <a:ext cx="2697480" cy="265176"/>
          </a:xfrm>
          <a:prstGeom prst="rect">
            <a:avLst/>
          </a:prstGeom>
          <a:noFill/>
        </p:spPr>
        <p:txBody>
          <a:bodyPr wrap="none" lIns="0" rIns="0" tIns="0" bIns="0" anchor="t">
            <a:spAutoFit/>
          </a:bodyPr>
          <a:lstStyle/>
          <a:p>
            <a:pPr algn="l">
              <a:lnSpc>
                <a:spcPct val="100000"/>
              </a:lnSpc>
            </a:pPr>
            <a:r>
              <a:rPr sz="1050" b="0">
                <a:solidFill>
                  <a:srgbClr val="A8B8C8"/>
                </a:solidFill>
                <a:latin typeface="Aptos"/>
              </a:rPr>
              <a:t>must feed downstream automation</a:t>
            </a:r>
          </a:p>
        </p:txBody>
      </p:sp>
      <p:sp>
        <p:nvSpPr>
          <p:cNvPr id="17" name="Rounded Rectangle 16"/>
          <p:cNvSpPr/>
          <p:nvPr/>
        </p:nvSpPr>
        <p:spPr>
          <a:xfrm>
            <a:off x="5742432" y="1874519"/>
            <a:ext cx="5943600" cy="4224528"/>
          </a:xfrm>
          <a:prstGeom prst="roundRect">
            <a:avLst/>
          </a:prstGeom>
          <a:solidFill>
            <a:srgbClr val="0D1C2E"/>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71616" y="2176272"/>
            <a:ext cx="2743200" cy="256032"/>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MY RESPONSIBILITY</a:t>
            </a:r>
          </a:p>
        </p:txBody>
      </p:sp>
      <p:sp>
        <p:nvSpPr>
          <p:cNvPr id="19" name="Rounded Rectangle 18"/>
          <p:cNvSpPr/>
          <p:nvPr/>
        </p:nvSpPr>
        <p:spPr>
          <a:xfrm>
            <a:off x="6080760" y="2679192"/>
            <a:ext cx="393192" cy="393192"/>
          </a:xfrm>
          <a:prstGeom prst="roundRect">
            <a:avLst/>
          </a:prstGeom>
          <a:solidFill>
            <a:srgbClr val="42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2679192"/>
            <a:ext cx="393192" cy="393192"/>
          </a:xfrm>
          <a:prstGeom prst="rect">
            <a:avLst/>
          </a:prstGeom>
          <a:noFill/>
        </p:spPr>
        <p:txBody>
          <a:bodyPr wrap="none" lIns="0" rIns="0" tIns="0" bIns="0" anchor="ctr">
            <a:spAutoFit/>
          </a:bodyPr>
          <a:lstStyle/>
          <a:p>
            <a:pPr algn="ctr">
              <a:lnSpc>
                <a:spcPct val="100000"/>
              </a:lnSpc>
            </a:pPr>
            <a:r>
              <a:rPr sz="850" b="1">
                <a:solidFill>
                  <a:srgbClr val="081321"/>
                </a:solidFill>
                <a:latin typeface="Aptos"/>
              </a:rPr>
              <a:t>01</a:t>
            </a:r>
          </a:p>
        </p:txBody>
      </p:sp>
      <p:sp>
        <p:nvSpPr>
          <p:cNvPr id="21" name="TextBox 20"/>
          <p:cNvSpPr txBox="1"/>
          <p:nvPr/>
        </p:nvSpPr>
        <p:spPr>
          <a:xfrm>
            <a:off x="6675120" y="2670048"/>
            <a:ext cx="1600200" cy="228600"/>
          </a:xfrm>
          <a:prstGeom prst="rect">
            <a:avLst/>
          </a:prstGeom>
          <a:noFill/>
        </p:spPr>
        <p:txBody>
          <a:bodyPr wrap="none" lIns="0" rIns="0" tIns="0" bIns="0" anchor="t">
            <a:spAutoFit/>
          </a:bodyPr>
          <a:lstStyle/>
          <a:p>
            <a:pPr algn="l">
              <a:lnSpc>
                <a:spcPct val="100000"/>
              </a:lnSpc>
            </a:pPr>
            <a:r>
              <a:rPr sz="1150" b="1">
                <a:solidFill>
                  <a:srgbClr val="F6F8FB"/>
                </a:solidFill>
                <a:latin typeface="Aptos"/>
              </a:rPr>
              <a:t>Agent workflow</a:t>
            </a:r>
          </a:p>
        </p:txBody>
      </p:sp>
      <p:sp>
        <p:nvSpPr>
          <p:cNvPr id="22" name="TextBox 21"/>
          <p:cNvSpPr txBox="1"/>
          <p:nvPr/>
        </p:nvSpPr>
        <p:spPr>
          <a:xfrm>
            <a:off x="8275320" y="2670048"/>
            <a:ext cx="2880360" cy="228600"/>
          </a:xfrm>
          <a:prstGeom prst="rect">
            <a:avLst/>
          </a:prstGeom>
          <a:noFill/>
        </p:spPr>
        <p:txBody>
          <a:bodyPr wrap="none" lIns="0" rIns="0" tIns="0" bIns="0" anchor="t">
            <a:spAutoFit/>
          </a:bodyPr>
          <a:lstStyle/>
          <a:p>
            <a:pPr algn="l">
              <a:lnSpc>
                <a:spcPct val="100000"/>
              </a:lnSpc>
            </a:pPr>
            <a:r>
              <a:rPr sz="1000" b="0">
                <a:solidFill>
                  <a:srgbClr val="A8B8C8"/>
                </a:solidFill>
                <a:latin typeface="Aptos"/>
              </a:rPr>
              <a:t>Three-stage reasoning pipeline</a:t>
            </a:r>
          </a:p>
        </p:txBody>
      </p:sp>
      <p:sp>
        <p:nvSpPr>
          <p:cNvPr id="23" name="Rounded Rectangle 22"/>
          <p:cNvSpPr/>
          <p:nvPr/>
        </p:nvSpPr>
        <p:spPr>
          <a:xfrm>
            <a:off x="6080760" y="3291840"/>
            <a:ext cx="393192" cy="393192"/>
          </a:xfrm>
          <a:prstGeom prst="roundRect">
            <a:avLst/>
          </a:prstGeom>
          <a:solidFill>
            <a:srgbClr val="42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60" y="3291840"/>
            <a:ext cx="393192" cy="393192"/>
          </a:xfrm>
          <a:prstGeom prst="rect">
            <a:avLst/>
          </a:prstGeom>
          <a:noFill/>
        </p:spPr>
        <p:txBody>
          <a:bodyPr wrap="none" lIns="0" rIns="0" tIns="0" bIns="0" anchor="ctr">
            <a:spAutoFit/>
          </a:bodyPr>
          <a:lstStyle/>
          <a:p>
            <a:pPr algn="ctr">
              <a:lnSpc>
                <a:spcPct val="100000"/>
              </a:lnSpc>
            </a:pPr>
            <a:r>
              <a:rPr sz="850" b="1">
                <a:solidFill>
                  <a:srgbClr val="081321"/>
                </a:solidFill>
                <a:latin typeface="Aptos"/>
              </a:rPr>
              <a:t>02</a:t>
            </a:r>
          </a:p>
        </p:txBody>
      </p:sp>
      <p:sp>
        <p:nvSpPr>
          <p:cNvPr id="25" name="TextBox 24"/>
          <p:cNvSpPr txBox="1"/>
          <p:nvPr/>
        </p:nvSpPr>
        <p:spPr>
          <a:xfrm>
            <a:off x="6675120" y="3282696"/>
            <a:ext cx="1600200" cy="228600"/>
          </a:xfrm>
          <a:prstGeom prst="rect">
            <a:avLst/>
          </a:prstGeom>
          <a:noFill/>
        </p:spPr>
        <p:txBody>
          <a:bodyPr wrap="none" lIns="0" rIns="0" tIns="0" bIns="0" anchor="t">
            <a:spAutoFit/>
          </a:bodyPr>
          <a:lstStyle/>
          <a:p>
            <a:pPr algn="l">
              <a:lnSpc>
                <a:spcPct val="100000"/>
              </a:lnSpc>
            </a:pPr>
            <a:r>
              <a:rPr sz="1150" b="1">
                <a:solidFill>
                  <a:srgbClr val="F6F8FB"/>
                </a:solidFill>
                <a:latin typeface="Aptos"/>
              </a:rPr>
              <a:t>FastAPI services</a:t>
            </a:r>
          </a:p>
        </p:txBody>
      </p:sp>
      <p:sp>
        <p:nvSpPr>
          <p:cNvPr id="26" name="TextBox 25"/>
          <p:cNvSpPr txBox="1"/>
          <p:nvPr/>
        </p:nvSpPr>
        <p:spPr>
          <a:xfrm>
            <a:off x="8275320" y="3282696"/>
            <a:ext cx="2880360" cy="228600"/>
          </a:xfrm>
          <a:prstGeom prst="rect">
            <a:avLst/>
          </a:prstGeom>
          <a:noFill/>
        </p:spPr>
        <p:txBody>
          <a:bodyPr wrap="none" lIns="0" rIns="0" tIns="0" bIns="0" anchor="t">
            <a:spAutoFit/>
          </a:bodyPr>
          <a:lstStyle/>
          <a:p>
            <a:pPr algn="l">
              <a:lnSpc>
                <a:spcPct val="100000"/>
              </a:lnSpc>
            </a:pPr>
            <a:r>
              <a:rPr sz="1000" b="0">
                <a:solidFill>
                  <a:srgbClr val="A8B8C8"/>
                </a:solidFill>
                <a:latin typeface="Aptos"/>
              </a:rPr>
              <a:t>Agent execution &amp; contracts</a:t>
            </a:r>
          </a:p>
        </p:txBody>
      </p:sp>
      <p:sp>
        <p:nvSpPr>
          <p:cNvPr id="27" name="Rounded Rectangle 26"/>
          <p:cNvSpPr/>
          <p:nvPr/>
        </p:nvSpPr>
        <p:spPr>
          <a:xfrm>
            <a:off x="6080760" y="3904488"/>
            <a:ext cx="393192" cy="393192"/>
          </a:xfrm>
          <a:prstGeom prst="roundRect">
            <a:avLst/>
          </a:prstGeom>
          <a:solidFill>
            <a:srgbClr val="42D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80760" y="3904488"/>
            <a:ext cx="393192" cy="393192"/>
          </a:xfrm>
          <a:prstGeom prst="rect">
            <a:avLst/>
          </a:prstGeom>
          <a:noFill/>
        </p:spPr>
        <p:txBody>
          <a:bodyPr wrap="none" lIns="0" rIns="0" tIns="0" bIns="0" anchor="ctr">
            <a:spAutoFit/>
          </a:bodyPr>
          <a:lstStyle/>
          <a:p>
            <a:pPr algn="ctr">
              <a:lnSpc>
                <a:spcPct val="100000"/>
              </a:lnSpc>
            </a:pPr>
            <a:r>
              <a:rPr sz="850" b="1">
                <a:solidFill>
                  <a:srgbClr val="081321"/>
                </a:solidFill>
                <a:latin typeface="Aptos"/>
              </a:rPr>
              <a:t>03</a:t>
            </a:r>
          </a:p>
        </p:txBody>
      </p:sp>
      <p:sp>
        <p:nvSpPr>
          <p:cNvPr id="29" name="TextBox 28"/>
          <p:cNvSpPr txBox="1"/>
          <p:nvPr/>
        </p:nvSpPr>
        <p:spPr>
          <a:xfrm>
            <a:off x="6675120" y="3895344"/>
            <a:ext cx="1600200" cy="228600"/>
          </a:xfrm>
          <a:prstGeom prst="rect">
            <a:avLst/>
          </a:prstGeom>
          <a:noFill/>
        </p:spPr>
        <p:txBody>
          <a:bodyPr wrap="none" lIns="0" rIns="0" tIns="0" bIns="0" anchor="t">
            <a:spAutoFit/>
          </a:bodyPr>
          <a:lstStyle/>
          <a:p>
            <a:pPr algn="l">
              <a:lnSpc>
                <a:spcPct val="100000"/>
              </a:lnSpc>
            </a:pPr>
            <a:r>
              <a:rPr sz="1150" b="1">
                <a:solidFill>
                  <a:srgbClr val="F6F8FB"/>
                </a:solidFill>
                <a:latin typeface="Aptos"/>
              </a:rPr>
              <a:t>Structured output</a:t>
            </a:r>
          </a:p>
        </p:txBody>
      </p:sp>
      <p:sp>
        <p:nvSpPr>
          <p:cNvPr id="30" name="TextBox 29"/>
          <p:cNvSpPr txBox="1"/>
          <p:nvPr/>
        </p:nvSpPr>
        <p:spPr>
          <a:xfrm>
            <a:off x="8275320" y="3895344"/>
            <a:ext cx="2880360" cy="228600"/>
          </a:xfrm>
          <a:prstGeom prst="rect">
            <a:avLst/>
          </a:prstGeom>
          <a:noFill/>
        </p:spPr>
        <p:txBody>
          <a:bodyPr wrap="none" lIns="0" rIns="0" tIns="0" bIns="0" anchor="t">
            <a:spAutoFit/>
          </a:bodyPr>
          <a:lstStyle/>
          <a:p>
            <a:pPr algn="l">
              <a:lnSpc>
                <a:spcPct val="100000"/>
              </a:lnSpc>
            </a:pPr>
            <a:r>
              <a:rPr sz="1000" b="0">
                <a:solidFill>
                  <a:srgbClr val="A8B8C8"/>
                </a:solidFill>
                <a:latin typeface="Aptos"/>
              </a:rPr>
              <a:t>JSON-first schemas → YAML</a:t>
            </a:r>
          </a:p>
        </p:txBody>
      </p:sp>
      <p:sp>
        <p:nvSpPr>
          <p:cNvPr id="31" name="Rounded Rectangle 30"/>
          <p:cNvSpPr/>
          <p:nvPr/>
        </p:nvSpPr>
        <p:spPr>
          <a:xfrm>
            <a:off x="6080760" y="4517136"/>
            <a:ext cx="393192" cy="393192"/>
          </a:xfrm>
          <a:prstGeom prst="roundRect">
            <a:avLst/>
          </a:prstGeom>
          <a:solidFill>
            <a:srgbClr val="B7F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4517136"/>
            <a:ext cx="393192" cy="393192"/>
          </a:xfrm>
          <a:prstGeom prst="rect">
            <a:avLst/>
          </a:prstGeom>
          <a:noFill/>
        </p:spPr>
        <p:txBody>
          <a:bodyPr wrap="none" lIns="0" rIns="0" tIns="0" bIns="0" anchor="ctr">
            <a:spAutoFit/>
          </a:bodyPr>
          <a:lstStyle/>
          <a:p>
            <a:pPr algn="ctr">
              <a:lnSpc>
                <a:spcPct val="100000"/>
              </a:lnSpc>
            </a:pPr>
            <a:r>
              <a:rPr sz="850" b="1">
                <a:solidFill>
                  <a:srgbClr val="081321"/>
                </a:solidFill>
                <a:latin typeface="Aptos"/>
              </a:rPr>
              <a:t>04</a:t>
            </a:r>
          </a:p>
        </p:txBody>
      </p:sp>
      <p:sp>
        <p:nvSpPr>
          <p:cNvPr id="33" name="TextBox 32"/>
          <p:cNvSpPr txBox="1"/>
          <p:nvPr/>
        </p:nvSpPr>
        <p:spPr>
          <a:xfrm>
            <a:off x="6675120" y="4507992"/>
            <a:ext cx="1600200" cy="228600"/>
          </a:xfrm>
          <a:prstGeom prst="rect">
            <a:avLst/>
          </a:prstGeom>
          <a:noFill/>
        </p:spPr>
        <p:txBody>
          <a:bodyPr wrap="none" lIns="0" rIns="0" tIns="0" bIns="0" anchor="t">
            <a:spAutoFit/>
          </a:bodyPr>
          <a:lstStyle/>
          <a:p>
            <a:pPr algn="l">
              <a:lnSpc>
                <a:spcPct val="100000"/>
              </a:lnSpc>
            </a:pPr>
            <a:r>
              <a:rPr sz="1150" b="1">
                <a:solidFill>
                  <a:srgbClr val="F6F8FB"/>
                </a:solidFill>
                <a:latin typeface="Aptos"/>
              </a:rPr>
              <a:t>HITL</a:t>
            </a:r>
          </a:p>
        </p:txBody>
      </p:sp>
      <p:sp>
        <p:nvSpPr>
          <p:cNvPr id="34" name="TextBox 33"/>
          <p:cNvSpPr txBox="1"/>
          <p:nvPr/>
        </p:nvSpPr>
        <p:spPr>
          <a:xfrm>
            <a:off x="8275320" y="4507992"/>
            <a:ext cx="2880360" cy="228600"/>
          </a:xfrm>
          <a:prstGeom prst="rect">
            <a:avLst/>
          </a:prstGeom>
          <a:noFill/>
        </p:spPr>
        <p:txBody>
          <a:bodyPr wrap="none" lIns="0" rIns="0" tIns="0" bIns="0" anchor="t">
            <a:spAutoFit/>
          </a:bodyPr>
          <a:lstStyle/>
          <a:p>
            <a:pPr algn="l">
              <a:lnSpc>
                <a:spcPct val="100000"/>
              </a:lnSpc>
            </a:pPr>
            <a:r>
              <a:rPr sz="1000" b="0">
                <a:solidFill>
                  <a:srgbClr val="A8B8C8"/>
                </a:solidFill>
                <a:latin typeface="Aptos"/>
              </a:rPr>
              <a:t>Review, feedback &amp; partial rerun</a:t>
            </a:r>
          </a:p>
        </p:txBody>
      </p:sp>
      <p:sp>
        <p:nvSpPr>
          <p:cNvPr id="35" name="Rounded Rectangle 34"/>
          <p:cNvSpPr/>
          <p:nvPr/>
        </p:nvSpPr>
        <p:spPr>
          <a:xfrm>
            <a:off x="6080760" y="5129784"/>
            <a:ext cx="393192" cy="393192"/>
          </a:xfrm>
          <a:prstGeom prst="roundRect">
            <a:avLst/>
          </a:prstGeom>
          <a:solidFill>
            <a:srgbClr val="B7F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80760" y="5129784"/>
            <a:ext cx="393192" cy="393192"/>
          </a:xfrm>
          <a:prstGeom prst="rect">
            <a:avLst/>
          </a:prstGeom>
          <a:noFill/>
        </p:spPr>
        <p:txBody>
          <a:bodyPr wrap="none" lIns="0" rIns="0" tIns="0" bIns="0" anchor="ctr">
            <a:spAutoFit/>
          </a:bodyPr>
          <a:lstStyle/>
          <a:p>
            <a:pPr algn="ctr">
              <a:lnSpc>
                <a:spcPct val="100000"/>
              </a:lnSpc>
            </a:pPr>
            <a:r>
              <a:rPr sz="850" b="1">
                <a:solidFill>
                  <a:srgbClr val="081321"/>
                </a:solidFill>
                <a:latin typeface="Aptos"/>
              </a:rPr>
              <a:t>05</a:t>
            </a:r>
          </a:p>
        </p:txBody>
      </p:sp>
      <p:sp>
        <p:nvSpPr>
          <p:cNvPr id="37" name="TextBox 36"/>
          <p:cNvSpPr txBox="1"/>
          <p:nvPr/>
        </p:nvSpPr>
        <p:spPr>
          <a:xfrm>
            <a:off x="6675120" y="5120640"/>
            <a:ext cx="1600200" cy="228600"/>
          </a:xfrm>
          <a:prstGeom prst="rect">
            <a:avLst/>
          </a:prstGeom>
          <a:noFill/>
        </p:spPr>
        <p:txBody>
          <a:bodyPr wrap="none" lIns="0" rIns="0" tIns="0" bIns="0" anchor="t">
            <a:spAutoFit/>
          </a:bodyPr>
          <a:lstStyle/>
          <a:p>
            <a:pPr algn="l">
              <a:lnSpc>
                <a:spcPct val="100000"/>
              </a:lnSpc>
            </a:pPr>
            <a:r>
              <a:rPr sz="1150" b="1">
                <a:solidFill>
                  <a:srgbClr val="F6F8FB"/>
                </a:solidFill>
                <a:latin typeface="Aptos"/>
              </a:rPr>
              <a:t>Evaluation</a:t>
            </a:r>
          </a:p>
        </p:txBody>
      </p:sp>
      <p:sp>
        <p:nvSpPr>
          <p:cNvPr id="38" name="TextBox 37"/>
          <p:cNvSpPr txBox="1"/>
          <p:nvPr/>
        </p:nvSpPr>
        <p:spPr>
          <a:xfrm>
            <a:off x="8275320" y="5120640"/>
            <a:ext cx="2880360" cy="228600"/>
          </a:xfrm>
          <a:prstGeom prst="rect">
            <a:avLst/>
          </a:prstGeom>
          <a:noFill/>
        </p:spPr>
        <p:txBody>
          <a:bodyPr wrap="none" lIns="0" rIns="0" tIns="0" bIns="0" anchor="t">
            <a:spAutoFit/>
          </a:bodyPr>
          <a:lstStyle/>
          <a:p>
            <a:pPr algn="l">
              <a:lnSpc>
                <a:spcPct val="100000"/>
              </a:lnSpc>
            </a:pPr>
            <a:r>
              <a:rPr sz="1000" b="0">
                <a:solidFill>
                  <a:srgbClr val="A8B8C8"/>
                </a:solidFill>
                <a:latin typeface="Aptos"/>
              </a:rPr>
              <a:t>Internal pilot and failure analysis</a:t>
            </a:r>
          </a:p>
        </p:txBody>
      </p:sp>
      <p:cxnSp>
        <p:nvCxnSpPr>
          <p:cNvPr id="39" name="Connector 38"/>
          <p:cNvCxnSpPr/>
          <p:nvPr/>
        </p:nvCxnSpPr>
        <p:spPr>
          <a:xfrm>
            <a:off x="502920" y="6492240"/>
            <a:ext cx="11183112" cy="0"/>
          </a:xfrm>
          <a:prstGeom prst="line">
            <a:avLst/>
          </a:prstGeom>
          <a:ln w="10160">
            <a:solidFill>
              <a:srgbClr val="264158"/>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920" y="6556248"/>
            <a:ext cx="4023360" cy="164592"/>
          </a:xfrm>
          <a:prstGeom prst="rect">
            <a:avLst/>
          </a:prstGeom>
          <a:noFill/>
        </p:spPr>
        <p:txBody>
          <a:bodyPr wrap="none" lIns="0" rIns="0" tIns="0" bIns="0" anchor="t">
            <a:spAutoFit/>
          </a:bodyPr>
          <a:lstStyle/>
          <a:p>
            <a:pPr algn="l">
              <a:lnSpc>
                <a:spcPct val="100000"/>
              </a:lnSpc>
            </a:pPr>
            <a:r>
              <a:rPr sz="750" b="1">
                <a:solidFill>
                  <a:srgbClr val="A8B8C8"/>
                </a:solidFill>
                <a:latin typeface="Aptos"/>
              </a:rPr>
              <a:t>ĐỖ TRỌNG MINH · APPLIED AI ENGINEER</a:t>
            </a:r>
          </a:p>
        </p:txBody>
      </p:sp>
      <p:sp>
        <p:nvSpPr>
          <p:cNvPr id="41" name="TextBox 40"/>
          <p:cNvSpPr txBox="1"/>
          <p:nvPr/>
        </p:nvSpPr>
        <p:spPr>
          <a:xfrm>
            <a:off x="8412480" y="6556248"/>
            <a:ext cx="3273552" cy="164592"/>
          </a:xfrm>
          <a:prstGeom prst="rect">
            <a:avLst/>
          </a:prstGeom>
          <a:noFill/>
        </p:spPr>
        <p:txBody>
          <a:bodyPr wrap="none" lIns="0" rIns="0" tIns="0" bIns="0" anchor="t">
            <a:spAutoFit/>
          </a:bodyPr>
          <a:lstStyle/>
          <a:p>
            <a:pPr algn="r">
              <a:lnSpc>
                <a:spcPct val="100000"/>
              </a:lnSpc>
            </a:pPr>
            <a:r>
              <a:rPr sz="750" b="1">
                <a:solidFill>
                  <a:srgbClr val="A8B8C8"/>
                </a:solidFill>
                <a:latin typeface="Aptos"/>
              </a:rPr>
              <a:t>PROBLEM BEFORE TECHNOLOGY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502920" cy="292608"/>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03</a:t>
            </a:r>
          </a:p>
        </p:txBody>
      </p:sp>
      <p:cxnSp>
        <p:nvCxnSpPr>
          <p:cNvPr id="4" name="Connector 3"/>
          <p:cNvCxnSpPr/>
          <p:nvPr/>
        </p:nvCxnSpPr>
        <p:spPr>
          <a:xfrm>
            <a:off x="1051560" y="502920"/>
            <a:ext cx="521208" cy="0"/>
          </a:xfrm>
          <a:prstGeom prst="line">
            <a:avLst/>
          </a:prstGeom>
          <a:ln w="19050">
            <a:solidFill>
              <a:srgbClr val="42D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82496" y="347472"/>
            <a:ext cx="4389120" cy="292608"/>
          </a:xfrm>
          <a:prstGeom prst="rect">
            <a:avLst/>
          </a:prstGeom>
          <a:noFill/>
        </p:spPr>
        <p:txBody>
          <a:bodyPr wrap="none" lIns="0" rIns="0" tIns="0" bIns="0" anchor="t">
            <a:spAutoFit/>
          </a:bodyPr>
          <a:lstStyle/>
          <a:p>
            <a:pPr algn="l">
              <a:lnSpc>
                <a:spcPct val="100000"/>
              </a:lnSpc>
            </a:pPr>
            <a:r>
              <a:rPr sz="1000" b="1">
                <a:solidFill>
                  <a:srgbClr val="A8B8C8"/>
                </a:solidFill>
                <a:latin typeface="Aptos"/>
              </a:rPr>
              <a:t>ARCHITECTURE &amp; DECISIONS</a:t>
            </a:r>
          </a:p>
        </p:txBody>
      </p:sp>
      <p:sp>
        <p:nvSpPr>
          <p:cNvPr id="6" name="TextBox 5"/>
          <p:cNvSpPr txBox="1"/>
          <p:nvPr/>
        </p:nvSpPr>
        <p:spPr>
          <a:xfrm>
            <a:off x="502920" y="749808"/>
            <a:ext cx="11109960" cy="566928"/>
          </a:xfrm>
          <a:prstGeom prst="rect">
            <a:avLst/>
          </a:prstGeom>
          <a:noFill/>
        </p:spPr>
        <p:txBody>
          <a:bodyPr wrap="none" lIns="0" rIns="0" tIns="0" bIns="0" anchor="t">
            <a:spAutoFit/>
          </a:bodyPr>
          <a:lstStyle/>
          <a:p>
            <a:pPr algn="l">
              <a:lnSpc>
                <a:spcPct val="100000"/>
              </a:lnSpc>
            </a:pPr>
            <a:r>
              <a:rPr sz="2800" b="1">
                <a:solidFill>
                  <a:srgbClr val="F6F8FB"/>
                </a:solidFill>
                <a:latin typeface="Aptos"/>
              </a:rPr>
              <a:t>A staged, inspectable agent workflow</a:t>
            </a:r>
          </a:p>
        </p:txBody>
      </p:sp>
      <p:sp>
        <p:nvSpPr>
          <p:cNvPr id="7" name="TextBox 6"/>
          <p:cNvSpPr txBox="1"/>
          <p:nvPr/>
        </p:nvSpPr>
        <p:spPr>
          <a:xfrm>
            <a:off x="521207" y="1307592"/>
            <a:ext cx="10789920" cy="329184"/>
          </a:xfrm>
          <a:prstGeom prst="rect">
            <a:avLst/>
          </a:prstGeom>
          <a:noFill/>
        </p:spPr>
        <p:txBody>
          <a:bodyPr wrap="none" lIns="0" rIns="0" tIns="0" bIns="0" anchor="t">
            <a:spAutoFit/>
          </a:bodyPr>
          <a:lstStyle/>
          <a:p>
            <a:pPr algn="l">
              <a:lnSpc>
                <a:spcPct val="100000"/>
              </a:lnSpc>
            </a:pPr>
            <a:r>
              <a:rPr sz="1100" b="0">
                <a:solidFill>
                  <a:srgbClr val="A8B8C8"/>
                </a:solidFill>
                <a:latin typeface="Aptos"/>
              </a:rPr>
              <a:t>Reasoning is separated from executable generation</a:t>
            </a:r>
          </a:p>
        </p:txBody>
      </p:sp>
      <p:sp>
        <p:nvSpPr>
          <p:cNvPr id="8" name="Rounded Rectangle 7"/>
          <p:cNvSpPr/>
          <p:nvPr/>
        </p:nvSpPr>
        <p:spPr>
          <a:xfrm>
            <a:off x="530352" y="1828800"/>
            <a:ext cx="1481328" cy="1051560"/>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975104"/>
            <a:ext cx="1481328" cy="365760"/>
          </a:xfrm>
          <a:prstGeom prst="rect">
            <a:avLst/>
          </a:prstGeom>
          <a:noFill/>
        </p:spPr>
        <p:txBody>
          <a:bodyPr wrap="none" lIns="0" rIns="0" tIns="0" bIns="0" anchor="t">
            <a:spAutoFit/>
          </a:bodyPr>
          <a:lstStyle/>
          <a:p>
            <a:pPr algn="ctr">
              <a:lnSpc>
                <a:spcPct val="100000"/>
              </a:lnSpc>
            </a:pPr>
            <a:r>
              <a:rPr sz="1800" b="1">
                <a:solidFill>
                  <a:srgbClr val="42D3E8"/>
                </a:solidFill>
                <a:latin typeface="Aptos"/>
              </a:rPr>
              <a:t>PRD</a:t>
            </a:r>
          </a:p>
        </p:txBody>
      </p:sp>
      <p:sp>
        <p:nvSpPr>
          <p:cNvPr id="10" name="TextBox 9"/>
          <p:cNvSpPr txBox="1"/>
          <p:nvPr/>
        </p:nvSpPr>
        <p:spPr>
          <a:xfrm>
            <a:off x="603503" y="2468880"/>
            <a:ext cx="1335024" cy="201168"/>
          </a:xfrm>
          <a:prstGeom prst="rect">
            <a:avLst/>
          </a:prstGeom>
          <a:noFill/>
        </p:spPr>
        <p:txBody>
          <a:bodyPr wrap="none" lIns="0" rIns="0" tIns="0" bIns="0" anchor="t">
            <a:spAutoFit/>
          </a:bodyPr>
          <a:lstStyle/>
          <a:p>
            <a:pPr algn="ctr">
              <a:lnSpc>
                <a:spcPct val="100000"/>
              </a:lnSpc>
            </a:pPr>
            <a:r>
              <a:rPr sz="800" b="1">
                <a:solidFill>
                  <a:srgbClr val="A8B8C8"/>
                </a:solidFill>
                <a:latin typeface="Aptos"/>
              </a:rPr>
              <a:t>INGESTION</a:t>
            </a:r>
          </a:p>
        </p:txBody>
      </p:sp>
      <p:cxnSp>
        <p:nvCxnSpPr>
          <p:cNvPr id="11" name="Connector 10"/>
          <p:cNvCxnSpPr/>
          <p:nvPr/>
        </p:nvCxnSpPr>
        <p:spPr>
          <a:xfrm>
            <a:off x="2029967" y="2350008"/>
            <a:ext cx="356617" cy="0"/>
          </a:xfrm>
          <a:prstGeom prst="line">
            <a:avLst/>
          </a:prstGeom>
          <a:ln w="25400">
            <a:solidFill>
              <a:srgbClr val="42D3E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32304" y="1828800"/>
            <a:ext cx="1481328" cy="1051560"/>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32304" y="1975104"/>
            <a:ext cx="1481328" cy="365760"/>
          </a:xfrm>
          <a:prstGeom prst="rect">
            <a:avLst/>
          </a:prstGeom>
          <a:noFill/>
        </p:spPr>
        <p:txBody>
          <a:bodyPr wrap="none" lIns="0" rIns="0" tIns="0" bIns="0" anchor="t">
            <a:spAutoFit/>
          </a:bodyPr>
          <a:lstStyle/>
          <a:p>
            <a:pPr algn="ctr">
              <a:lnSpc>
                <a:spcPct val="100000"/>
              </a:lnSpc>
            </a:pPr>
            <a:r>
              <a:rPr sz="1800" b="1">
                <a:solidFill>
                  <a:srgbClr val="42D3E8"/>
                </a:solidFill>
                <a:latin typeface="Aptos"/>
              </a:rPr>
              <a:t>A1</a:t>
            </a:r>
          </a:p>
        </p:txBody>
      </p:sp>
      <p:sp>
        <p:nvSpPr>
          <p:cNvPr id="14" name="TextBox 13"/>
          <p:cNvSpPr txBox="1"/>
          <p:nvPr/>
        </p:nvSpPr>
        <p:spPr>
          <a:xfrm>
            <a:off x="2505456" y="2468880"/>
            <a:ext cx="1335024" cy="201168"/>
          </a:xfrm>
          <a:prstGeom prst="rect">
            <a:avLst/>
          </a:prstGeom>
          <a:noFill/>
        </p:spPr>
        <p:txBody>
          <a:bodyPr wrap="none" lIns="0" rIns="0" tIns="0" bIns="0" anchor="t">
            <a:spAutoFit/>
          </a:bodyPr>
          <a:lstStyle/>
          <a:p>
            <a:pPr algn="ctr">
              <a:lnSpc>
                <a:spcPct val="100000"/>
              </a:lnSpc>
            </a:pPr>
            <a:r>
              <a:rPr sz="800" b="1">
                <a:solidFill>
                  <a:srgbClr val="A8B8C8"/>
                </a:solidFill>
                <a:latin typeface="Aptos"/>
              </a:rPr>
              <a:t>REQUIREMENTS</a:t>
            </a:r>
          </a:p>
        </p:txBody>
      </p:sp>
      <p:cxnSp>
        <p:nvCxnSpPr>
          <p:cNvPr id="15" name="Connector 14"/>
          <p:cNvCxnSpPr/>
          <p:nvPr/>
        </p:nvCxnSpPr>
        <p:spPr>
          <a:xfrm>
            <a:off x="3931920" y="2350008"/>
            <a:ext cx="356616" cy="0"/>
          </a:xfrm>
          <a:prstGeom prst="line">
            <a:avLst/>
          </a:prstGeom>
          <a:ln w="25400">
            <a:solidFill>
              <a:srgbClr val="42D3E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34256" y="1828800"/>
            <a:ext cx="1481328" cy="1051560"/>
          </a:xfrm>
          <a:prstGeom prst="roundRect">
            <a:avLst/>
          </a:prstGeom>
          <a:solidFill>
            <a:srgbClr val="12263A"/>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34256" y="1975104"/>
            <a:ext cx="1481328" cy="365760"/>
          </a:xfrm>
          <a:prstGeom prst="rect">
            <a:avLst/>
          </a:prstGeom>
          <a:noFill/>
        </p:spPr>
        <p:txBody>
          <a:bodyPr wrap="none" lIns="0" rIns="0" tIns="0" bIns="0" anchor="t">
            <a:spAutoFit/>
          </a:bodyPr>
          <a:lstStyle/>
          <a:p>
            <a:pPr algn="ctr">
              <a:lnSpc>
                <a:spcPct val="100000"/>
              </a:lnSpc>
            </a:pPr>
            <a:r>
              <a:rPr sz="1800" b="1">
                <a:solidFill>
                  <a:srgbClr val="B7F34A"/>
                </a:solidFill>
                <a:latin typeface="Aptos"/>
              </a:rPr>
              <a:t>A2</a:t>
            </a:r>
          </a:p>
        </p:txBody>
      </p:sp>
      <p:sp>
        <p:nvSpPr>
          <p:cNvPr id="18" name="TextBox 17"/>
          <p:cNvSpPr txBox="1"/>
          <p:nvPr/>
        </p:nvSpPr>
        <p:spPr>
          <a:xfrm>
            <a:off x="4407408" y="2468880"/>
            <a:ext cx="1335024" cy="201168"/>
          </a:xfrm>
          <a:prstGeom prst="rect">
            <a:avLst/>
          </a:prstGeom>
          <a:noFill/>
        </p:spPr>
        <p:txBody>
          <a:bodyPr wrap="none" lIns="0" rIns="0" tIns="0" bIns="0" anchor="t">
            <a:spAutoFit/>
          </a:bodyPr>
          <a:lstStyle/>
          <a:p>
            <a:pPr algn="ctr">
              <a:lnSpc>
                <a:spcPct val="100000"/>
              </a:lnSpc>
            </a:pPr>
            <a:r>
              <a:rPr sz="800" b="1">
                <a:solidFill>
                  <a:srgbClr val="A8B8C8"/>
                </a:solidFill>
                <a:latin typeface="Aptos"/>
              </a:rPr>
              <a:t>SCENARIOS</a:t>
            </a:r>
          </a:p>
        </p:txBody>
      </p:sp>
      <p:cxnSp>
        <p:nvCxnSpPr>
          <p:cNvPr id="19" name="Connector 18"/>
          <p:cNvCxnSpPr/>
          <p:nvPr/>
        </p:nvCxnSpPr>
        <p:spPr>
          <a:xfrm>
            <a:off x="5833872" y="2350008"/>
            <a:ext cx="356616" cy="0"/>
          </a:xfrm>
          <a:prstGeom prst="line">
            <a:avLst/>
          </a:prstGeom>
          <a:ln w="25400">
            <a:solidFill>
              <a:srgbClr val="42D3E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36208" y="1828800"/>
            <a:ext cx="1481328" cy="1051560"/>
          </a:xfrm>
          <a:prstGeom prst="roundRect">
            <a:avLst/>
          </a:prstGeom>
          <a:solidFill>
            <a:srgbClr val="12263A"/>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36208" y="1975104"/>
            <a:ext cx="1481328" cy="365760"/>
          </a:xfrm>
          <a:prstGeom prst="rect">
            <a:avLst/>
          </a:prstGeom>
          <a:noFill/>
        </p:spPr>
        <p:txBody>
          <a:bodyPr wrap="none" lIns="0" rIns="0" tIns="0" bIns="0" anchor="t">
            <a:spAutoFit/>
          </a:bodyPr>
          <a:lstStyle/>
          <a:p>
            <a:pPr algn="ctr">
              <a:lnSpc>
                <a:spcPct val="100000"/>
              </a:lnSpc>
            </a:pPr>
            <a:r>
              <a:rPr sz="1800" b="1">
                <a:solidFill>
                  <a:srgbClr val="FFB65C"/>
                </a:solidFill>
                <a:latin typeface="Aptos"/>
              </a:rPr>
              <a:t>A3</a:t>
            </a:r>
          </a:p>
        </p:txBody>
      </p:sp>
      <p:sp>
        <p:nvSpPr>
          <p:cNvPr id="22" name="TextBox 21"/>
          <p:cNvSpPr txBox="1"/>
          <p:nvPr/>
        </p:nvSpPr>
        <p:spPr>
          <a:xfrm>
            <a:off x="6309360" y="2468880"/>
            <a:ext cx="1335024" cy="201168"/>
          </a:xfrm>
          <a:prstGeom prst="rect">
            <a:avLst/>
          </a:prstGeom>
          <a:noFill/>
        </p:spPr>
        <p:txBody>
          <a:bodyPr wrap="none" lIns="0" rIns="0" tIns="0" bIns="0" anchor="t">
            <a:spAutoFit/>
          </a:bodyPr>
          <a:lstStyle/>
          <a:p>
            <a:pPr algn="ctr">
              <a:lnSpc>
                <a:spcPct val="100000"/>
              </a:lnSpc>
            </a:pPr>
            <a:r>
              <a:rPr sz="800" b="1">
                <a:solidFill>
                  <a:srgbClr val="A8B8C8"/>
                </a:solidFill>
                <a:latin typeface="Aptos"/>
              </a:rPr>
              <a:t>SCRIPTS</a:t>
            </a:r>
          </a:p>
        </p:txBody>
      </p:sp>
      <p:cxnSp>
        <p:nvCxnSpPr>
          <p:cNvPr id="23" name="Connector 22"/>
          <p:cNvCxnSpPr/>
          <p:nvPr/>
        </p:nvCxnSpPr>
        <p:spPr>
          <a:xfrm>
            <a:off x="7735824" y="2350008"/>
            <a:ext cx="356616" cy="0"/>
          </a:xfrm>
          <a:prstGeom prst="line">
            <a:avLst/>
          </a:prstGeom>
          <a:ln w="25400">
            <a:solidFill>
              <a:srgbClr val="42D3E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38160" y="1828800"/>
            <a:ext cx="1481328" cy="1051560"/>
          </a:xfrm>
          <a:prstGeom prst="roundRect">
            <a:avLst/>
          </a:prstGeom>
          <a:solidFill>
            <a:srgbClr val="12263A"/>
          </a:solidFill>
          <a:ln w="12700">
            <a:solidFill>
              <a:srgbClr val="FF72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0" y="1975104"/>
            <a:ext cx="1481328" cy="365760"/>
          </a:xfrm>
          <a:prstGeom prst="rect">
            <a:avLst/>
          </a:prstGeom>
          <a:noFill/>
        </p:spPr>
        <p:txBody>
          <a:bodyPr wrap="none" lIns="0" rIns="0" tIns="0" bIns="0" anchor="t">
            <a:spAutoFit/>
          </a:bodyPr>
          <a:lstStyle/>
          <a:p>
            <a:pPr algn="ctr">
              <a:lnSpc>
                <a:spcPct val="100000"/>
              </a:lnSpc>
            </a:pPr>
            <a:r>
              <a:rPr sz="1800" b="1">
                <a:solidFill>
                  <a:srgbClr val="FF7272"/>
                </a:solidFill>
                <a:latin typeface="Aptos"/>
              </a:rPr>
              <a:t>✓</a:t>
            </a:r>
          </a:p>
        </p:txBody>
      </p:sp>
      <p:sp>
        <p:nvSpPr>
          <p:cNvPr id="26" name="TextBox 25"/>
          <p:cNvSpPr txBox="1"/>
          <p:nvPr/>
        </p:nvSpPr>
        <p:spPr>
          <a:xfrm>
            <a:off x="8211312" y="2468880"/>
            <a:ext cx="1335024" cy="201168"/>
          </a:xfrm>
          <a:prstGeom prst="rect">
            <a:avLst/>
          </a:prstGeom>
          <a:noFill/>
        </p:spPr>
        <p:txBody>
          <a:bodyPr wrap="none" lIns="0" rIns="0" tIns="0" bIns="0" anchor="t">
            <a:spAutoFit/>
          </a:bodyPr>
          <a:lstStyle/>
          <a:p>
            <a:pPr algn="ctr">
              <a:lnSpc>
                <a:spcPct val="100000"/>
              </a:lnSpc>
            </a:pPr>
            <a:r>
              <a:rPr sz="800" b="1">
                <a:solidFill>
                  <a:srgbClr val="A8B8C8"/>
                </a:solidFill>
                <a:latin typeface="Aptos"/>
              </a:rPr>
              <a:t>VALIDATION</a:t>
            </a:r>
          </a:p>
        </p:txBody>
      </p:sp>
      <p:cxnSp>
        <p:nvCxnSpPr>
          <p:cNvPr id="27" name="Connector 26"/>
          <p:cNvCxnSpPr/>
          <p:nvPr/>
        </p:nvCxnSpPr>
        <p:spPr>
          <a:xfrm>
            <a:off x="9637776" y="2350008"/>
            <a:ext cx="356616" cy="0"/>
          </a:xfrm>
          <a:prstGeom prst="line">
            <a:avLst/>
          </a:prstGeom>
          <a:ln w="25400">
            <a:solidFill>
              <a:srgbClr val="42D3E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40112" y="1828800"/>
            <a:ext cx="1481328" cy="1051560"/>
          </a:xfrm>
          <a:prstGeom prst="roundRect">
            <a:avLst/>
          </a:prstGeom>
          <a:solidFill>
            <a:srgbClr val="12263A"/>
          </a:solidFill>
          <a:ln w="12700">
            <a:solidFill>
              <a:srgbClr val="F6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40112" y="1975104"/>
            <a:ext cx="1481328" cy="365760"/>
          </a:xfrm>
          <a:prstGeom prst="rect">
            <a:avLst/>
          </a:prstGeom>
          <a:noFill/>
        </p:spPr>
        <p:txBody>
          <a:bodyPr wrap="none" lIns="0" rIns="0" tIns="0" bIns="0" anchor="t">
            <a:spAutoFit/>
          </a:bodyPr>
          <a:lstStyle/>
          <a:p>
            <a:pPr algn="ctr">
              <a:lnSpc>
                <a:spcPct val="100000"/>
              </a:lnSpc>
            </a:pPr>
            <a:r>
              <a:rPr sz="1800" b="1">
                <a:solidFill>
                  <a:srgbClr val="F6F8FB"/>
                </a:solidFill>
                <a:latin typeface="Aptos"/>
              </a:rPr>
              <a:t>H</a:t>
            </a:r>
          </a:p>
        </p:txBody>
      </p:sp>
      <p:sp>
        <p:nvSpPr>
          <p:cNvPr id="30" name="TextBox 29"/>
          <p:cNvSpPr txBox="1"/>
          <p:nvPr/>
        </p:nvSpPr>
        <p:spPr>
          <a:xfrm>
            <a:off x="10113264" y="2468880"/>
            <a:ext cx="1335024" cy="201168"/>
          </a:xfrm>
          <a:prstGeom prst="rect">
            <a:avLst/>
          </a:prstGeom>
          <a:noFill/>
        </p:spPr>
        <p:txBody>
          <a:bodyPr wrap="none" lIns="0" rIns="0" tIns="0" bIns="0" anchor="t">
            <a:spAutoFit/>
          </a:bodyPr>
          <a:lstStyle/>
          <a:p>
            <a:pPr algn="ctr">
              <a:lnSpc>
                <a:spcPct val="100000"/>
              </a:lnSpc>
            </a:pPr>
            <a:r>
              <a:rPr sz="800" b="1">
                <a:solidFill>
                  <a:srgbClr val="A8B8C8"/>
                </a:solidFill>
                <a:latin typeface="Aptos"/>
              </a:rPr>
              <a:t>HUMAN REVIEW</a:t>
            </a:r>
          </a:p>
        </p:txBody>
      </p:sp>
      <p:sp>
        <p:nvSpPr>
          <p:cNvPr id="31" name="TextBox 30"/>
          <p:cNvSpPr txBox="1"/>
          <p:nvPr/>
        </p:nvSpPr>
        <p:spPr>
          <a:xfrm>
            <a:off x="9290304" y="2971800"/>
            <a:ext cx="1920240" cy="274320"/>
          </a:xfrm>
          <a:prstGeom prst="rect">
            <a:avLst/>
          </a:prstGeom>
          <a:noFill/>
        </p:spPr>
        <p:txBody>
          <a:bodyPr wrap="none" lIns="0" rIns="0" tIns="0" bIns="0" anchor="t">
            <a:spAutoFit/>
          </a:bodyPr>
          <a:lstStyle/>
          <a:p>
            <a:pPr algn="ctr">
              <a:lnSpc>
                <a:spcPct val="100000"/>
              </a:lnSpc>
            </a:pPr>
            <a:r>
              <a:rPr sz="950" b="1">
                <a:solidFill>
                  <a:srgbClr val="B7F34A"/>
                </a:solidFill>
                <a:latin typeface="Aptos"/>
              </a:rPr>
              <a:t>↺ partial regeneration</a:t>
            </a:r>
          </a:p>
        </p:txBody>
      </p:sp>
      <p:sp>
        <p:nvSpPr>
          <p:cNvPr id="32" name="Rounded Rectangle 31"/>
          <p:cNvSpPr/>
          <p:nvPr/>
        </p:nvSpPr>
        <p:spPr>
          <a:xfrm>
            <a:off x="530352" y="3502152"/>
            <a:ext cx="3456432" cy="1280160"/>
          </a:xfrm>
          <a:prstGeom prst="roundRect">
            <a:avLst/>
          </a:prstGeom>
          <a:solidFill>
            <a:srgbClr val="0D1C2E"/>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19" y="3721608"/>
            <a:ext cx="384048" cy="256032"/>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01</a:t>
            </a:r>
          </a:p>
        </p:txBody>
      </p:sp>
      <p:sp>
        <p:nvSpPr>
          <p:cNvPr id="34" name="TextBox 33"/>
          <p:cNvSpPr txBox="1"/>
          <p:nvPr/>
        </p:nvSpPr>
        <p:spPr>
          <a:xfrm>
            <a:off x="1188719" y="3685032"/>
            <a:ext cx="2377440" cy="283464"/>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Segment the context</a:t>
            </a:r>
          </a:p>
        </p:txBody>
      </p:sp>
      <p:sp>
        <p:nvSpPr>
          <p:cNvPr id="35" name="TextBox 34"/>
          <p:cNvSpPr txBox="1"/>
          <p:nvPr/>
        </p:nvSpPr>
        <p:spPr>
          <a:xfrm>
            <a:off x="731519" y="4114800"/>
            <a:ext cx="3017520" cy="457200"/>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Process flows independently instead of one oversized prompt.</a:t>
            </a:r>
          </a:p>
        </p:txBody>
      </p:sp>
      <p:sp>
        <p:nvSpPr>
          <p:cNvPr id="36" name="Rounded Rectangle 35"/>
          <p:cNvSpPr/>
          <p:nvPr/>
        </p:nvSpPr>
        <p:spPr>
          <a:xfrm>
            <a:off x="4315968" y="3502152"/>
            <a:ext cx="3456432" cy="1280160"/>
          </a:xfrm>
          <a:prstGeom prst="roundRect">
            <a:avLst/>
          </a:prstGeom>
          <a:solidFill>
            <a:srgbClr val="0D1C2E"/>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17136" y="3721608"/>
            <a:ext cx="384048" cy="256032"/>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02</a:t>
            </a:r>
          </a:p>
        </p:txBody>
      </p:sp>
      <p:sp>
        <p:nvSpPr>
          <p:cNvPr id="38" name="TextBox 37"/>
          <p:cNvSpPr txBox="1"/>
          <p:nvPr/>
        </p:nvSpPr>
        <p:spPr>
          <a:xfrm>
            <a:off x="4974336" y="3685032"/>
            <a:ext cx="2377440" cy="283464"/>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JSON first</a:t>
            </a:r>
          </a:p>
        </p:txBody>
      </p:sp>
      <p:sp>
        <p:nvSpPr>
          <p:cNvPr id="39" name="TextBox 38"/>
          <p:cNvSpPr txBox="1"/>
          <p:nvPr/>
        </p:nvSpPr>
        <p:spPr>
          <a:xfrm>
            <a:off x="4517136" y="4114800"/>
            <a:ext cx="3017520" cy="457200"/>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Validate semantic structure before rendering executable YAML.</a:t>
            </a:r>
          </a:p>
        </p:txBody>
      </p:sp>
      <p:sp>
        <p:nvSpPr>
          <p:cNvPr id="40" name="Rounded Rectangle 39"/>
          <p:cNvSpPr/>
          <p:nvPr/>
        </p:nvSpPr>
        <p:spPr>
          <a:xfrm>
            <a:off x="8101583" y="3502152"/>
            <a:ext cx="3456432" cy="1280160"/>
          </a:xfrm>
          <a:prstGeom prst="roundRect">
            <a:avLst/>
          </a:prstGeom>
          <a:solidFill>
            <a:srgbClr val="0D1C2E"/>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02752" y="3721608"/>
            <a:ext cx="384048" cy="256032"/>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03</a:t>
            </a:r>
          </a:p>
        </p:txBody>
      </p:sp>
      <p:sp>
        <p:nvSpPr>
          <p:cNvPr id="42" name="TextBox 41"/>
          <p:cNvSpPr txBox="1"/>
          <p:nvPr/>
        </p:nvSpPr>
        <p:spPr>
          <a:xfrm>
            <a:off x="8759952" y="3685032"/>
            <a:ext cx="2377440" cy="283464"/>
          </a:xfrm>
          <a:prstGeom prst="rect">
            <a:avLst/>
          </a:prstGeom>
          <a:noFill/>
        </p:spPr>
        <p:txBody>
          <a:bodyPr wrap="none" lIns="0" rIns="0" tIns="0" bIns="0" anchor="t">
            <a:spAutoFit/>
          </a:bodyPr>
          <a:lstStyle/>
          <a:p>
            <a:pPr algn="l">
              <a:lnSpc>
                <a:spcPct val="100000"/>
              </a:lnSpc>
            </a:pPr>
            <a:r>
              <a:rPr sz="1300" b="1">
                <a:solidFill>
                  <a:srgbClr val="F6F8FB"/>
                </a:solidFill>
                <a:latin typeface="Aptos"/>
              </a:rPr>
              <a:t>Rerun by stage</a:t>
            </a:r>
          </a:p>
        </p:txBody>
      </p:sp>
      <p:sp>
        <p:nvSpPr>
          <p:cNvPr id="43" name="TextBox 42"/>
          <p:cNvSpPr txBox="1"/>
          <p:nvPr/>
        </p:nvSpPr>
        <p:spPr>
          <a:xfrm>
            <a:off x="8302752" y="4114800"/>
            <a:ext cx="3017520" cy="457200"/>
          </a:xfrm>
          <a:prstGeom prst="rect">
            <a:avLst/>
          </a:prstGeom>
          <a:noFill/>
        </p:spPr>
        <p:txBody>
          <a:bodyPr wrap="none" lIns="0" rIns="0" tIns="0" bIns="0" anchor="t">
            <a:spAutoFit/>
          </a:bodyPr>
          <a:lstStyle/>
          <a:p>
            <a:pPr algn="l">
              <a:lnSpc>
                <a:spcPct val="100000"/>
              </a:lnSpc>
            </a:pPr>
            <a:r>
              <a:rPr sz="950" b="0">
                <a:solidFill>
                  <a:srgbClr val="A8B8C8"/>
                </a:solidFill>
                <a:latin typeface="Aptos"/>
              </a:rPr>
              <a:t>Preserve reviewed artifacts; regenerate only stale downstream work.</a:t>
            </a:r>
          </a:p>
        </p:txBody>
      </p:sp>
      <p:sp>
        <p:nvSpPr>
          <p:cNvPr id="44" name="Rounded Rectangle 43"/>
          <p:cNvSpPr/>
          <p:nvPr/>
        </p:nvSpPr>
        <p:spPr>
          <a:xfrm>
            <a:off x="530352" y="5074920"/>
            <a:ext cx="11137392" cy="987552"/>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 y="5221224"/>
            <a:ext cx="1920240" cy="338328"/>
          </a:xfrm>
          <a:prstGeom prst="rect">
            <a:avLst/>
          </a:prstGeom>
          <a:noFill/>
        </p:spPr>
        <p:txBody>
          <a:bodyPr wrap="none" lIns="0" rIns="0" tIns="0" bIns="0" anchor="t">
            <a:spAutoFit/>
          </a:bodyPr>
          <a:lstStyle/>
          <a:p>
            <a:pPr algn="l">
              <a:lnSpc>
                <a:spcPct val="100000"/>
              </a:lnSpc>
            </a:pPr>
            <a:r>
              <a:rPr sz="2000" b="1">
                <a:solidFill>
                  <a:srgbClr val="A8B8C8"/>
                </a:solidFill>
                <a:latin typeface="Aptos"/>
              </a:rPr>
              <a:t>~3 days</a:t>
            </a:r>
          </a:p>
        </p:txBody>
      </p:sp>
      <p:sp>
        <p:nvSpPr>
          <p:cNvPr id="46" name="TextBox 45"/>
          <p:cNvSpPr txBox="1"/>
          <p:nvPr/>
        </p:nvSpPr>
        <p:spPr>
          <a:xfrm>
            <a:off x="868680" y="5605272"/>
            <a:ext cx="1965960" cy="182880"/>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BEFORE</a:t>
            </a:r>
          </a:p>
        </p:txBody>
      </p:sp>
      <p:cxnSp>
        <p:nvCxnSpPr>
          <p:cNvPr id="47" name="Connector 46"/>
          <p:cNvCxnSpPr/>
          <p:nvPr/>
        </p:nvCxnSpPr>
        <p:spPr>
          <a:xfrm>
            <a:off x="3319271" y="5276088"/>
            <a:ext cx="0" cy="566928"/>
          </a:xfrm>
          <a:prstGeom prst="line">
            <a:avLst/>
          </a:prstGeom>
          <a:ln w="12700">
            <a:solidFill>
              <a:srgbClr val="264158"/>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639311" y="5221224"/>
            <a:ext cx="1920240" cy="338328"/>
          </a:xfrm>
          <a:prstGeom prst="rect">
            <a:avLst/>
          </a:prstGeom>
          <a:noFill/>
        </p:spPr>
        <p:txBody>
          <a:bodyPr wrap="none" lIns="0" rIns="0" tIns="0" bIns="0" anchor="t">
            <a:spAutoFit/>
          </a:bodyPr>
          <a:lstStyle/>
          <a:p>
            <a:pPr algn="l">
              <a:lnSpc>
                <a:spcPct val="100000"/>
              </a:lnSpc>
            </a:pPr>
            <a:r>
              <a:rPr sz="2000" b="1">
                <a:solidFill>
                  <a:srgbClr val="B7F34A"/>
                </a:solidFill>
                <a:latin typeface="Aptos"/>
              </a:rPr>
              <a:t>&lt; 5 min</a:t>
            </a:r>
          </a:p>
        </p:txBody>
      </p:sp>
      <p:sp>
        <p:nvSpPr>
          <p:cNvPr id="49" name="TextBox 48"/>
          <p:cNvSpPr txBox="1"/>
          <p:nvPr/>
        </p:nvSpPr>
        <p:spPr>
          <a:xfrm>
            <a:off x="3639311" y="5605272"/>
            <a:ext cx="1965960" cy="182880"/>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PIPELINE OUTPUT</a:t>
            </a:r>
          </a:p>
        </p:txBody>
      </p:sp>
      <p:cxnSp>
        <p:nvCxnSpPr>
          <p:cNvPr id="50" name="Connector 49"/>
          <p:cNvCxnSpPr/>
          <p:nvPr/>
        </p:nvCxnSpPr>
        <p:spPr>
          <a:xfrm>
            <a:off x="6089904" y="5276088"/>
            <a:ext cx="0" cy="566928"/>
          </a:xfrm>
          <a:prstGeom prst="line">
            <a:avLst/>
          </a:prstGeom>
          <a:ln w="12700">
            <a:solidFill>
              <a:srgbClr val="264158"/>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409944" y="5221224"/>
            <a:ext cx="1920240" cy="338328"/>
          </a:xfrm>
          <a:prstGeom prst="rect">
            <a:avLst/>
          </a:prstGeom>
          <a:noFill/>
        </p:spPr>
        <p:txBody>
          <a:bodyPr wrap="none" lIns="0" rIns="0" tIns="0" bIns="0" anchor="t">
            <a:spAutoFit/>
          </a:bodyPr>
          <a:lstStyle/>
          <a:p>
            <a:pPr algn="l">
              <a:lnSpc>
                <a:spcPct val="100000"/>
              </a:lnSpc>
            </a:pPr>
            <a:r>
              <a:rPr sz="2000" b="1">
                <a:solidFill>
                  <a:srgbClr val="42D3E8"/>
                </a:solidFill>
                <a:latin typeface="Aptos"/>
              </a:rPr>
              <a:t>88.4%</a:t>
            </a:r>
          </a:p>
        </p:txBody>
      </p:sp>
      <p:sp>
        <p:nvSpPr>
          <p:cNvPr id="52" name="TextBox 51"/>
          <p:cNvSpPr txBox="1"/>
          <p:nvPr/>
        </p:nvSpPr>
        <p:spPr>
          <a:xfrm>
            <a:off x="6409944" y="5605272"/>
            <a:ext cx="1965960" cy="182880"/>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FIRST-RUN YAML*</a:t>
            </a:r>
          </a:p>
        </p:txBody>
      </p:sp>
      <p:cxnSp>
        <p:nvCxnSpPr>
          <p:cNvPr id="53" name="Connector 52"/>
          <p:cNvCxnSpPr/>
          <p:nvPr/>
        </p:nvCxnSpPr>
        <p:spPr>
          <a:xfrm>
            <a:off x="8860536" y="5276088"/>
            <a:ext cx="0" cy="566928"/>
          </a:xfrm>
          <a:prstGeom prst="line">
            <a:avLst/>
          </a:prstGeom>
          <a:ln w="12700">
            <a:solidFill>
              <a:srgbClr val="264158"/>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180576" y="5221224"/>
            <a:ext cx="1920240" cy="338328"/>
          </a:xfrm>
          <a:prstGeom prst="rect">
            <a:avLst/>
          </a:prstGeom>
          <a:noFill/>
        </p:spPr>
        <p:txBody>
          <a:bodyPr wrap="none" lIns="0" rIns="0" tIns="0" bIns="0" anchor="t">
            <a:spAutoFit/>
          </a:bodyPr>
          <a:lstStyle/>
          <a:p>
            <a:pPr algn="l">
              <a:lnSpc>
                <a:spcPct val="100000"/>
              </a:lnSpc>
            </a:pPr>
            <a:r>
              <a:rPr sz="2000" b="1">
                <a:solidFill>
                  <a:srgbClr val="FFB65C"/>
                </a:solidFill>
                <a:latin typeface="Aptos"/>
              </a:rPr>
              <a:t>28</a:t>
            </a:r>
          </a:p>
        </p:txBody>
      </p:sp>
      <p:sp>
        <p:nvSpPr>
          <p:cNvPr id="55" name="TextBox 54"/>
          <p:cNvSpPr txBox="1"/>
          <p:nvPr/>
        </p:nvSpPr>
        <p:spPr>
          <a:xfrm>
            <a:off x="9180576" y="5605272"/>
            <a:ext cx="1965960" cy="182880"/>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BETA USERS</a:t>
            </a:r>
          </a:p>
        </p:txBody>
      </p:sp>
      <p:sp>
        <p:nvSpPr>
          <p:cNvPr id="56" name="TextBox 55"/>
          <p:cNvSpPr txBox="1"/>
          <p:nvPr/>
        </p:nvSpPr>
        <p:spPr>
          <a:xfrm>
            <a:off x="6638544" y="6126480"/>
            <a:ext cx="5029200" cy="164592"/>
          </a:xfrm>
          <a:prstGeom prst="rect">
            <a:avLst/>
          </a:prstGeom>
          <a:noFill/>
        </p:spPr>
        <p:txBody>
          <a:bodyPr wrap="none" lIns="0" rIns="0" tIns="0" bIns="0" anchor="t">
            <a:spAutoFit/>
          </a:bodyPr>
          <a:lstStyle/>
          <a:p>
            <a:pPr algn="r">
              <a:lnSpc>
                <a:spcPct val="100000"/>
              </a:lnSpc>
            </a:pPr>
            <a:r>
              <a:rPr sz="750" b="0">
                <a:solidFill>
                  <a:srgbClr val="A8B8C8"/>
                </a:solidFill>
                <a:latin typeface="Aptos"/>
              </a:rPr>
              <a:t>*Reported beta metric; sample count must be confirmed before interview.</a:t>
            </a:r>
          </a:p>
        </p:txBody>
      </p:sp>
      <p:cxnSp>
        <p:nvCxnSpPr>
          <p:cNvPr id="57" name="Connector 56"/>
          <p:cNvCxnSpPr/>
          <p:nvPr/>
        </p:nvCxnSpPr>
        <p:spPr>
          <a:xfrm>
            <a:off x="502920" y="6492240"/>
            <a:ext cx="11183112" cy="0"/>
          </a:xfrm>
          <a:prstGeom prst="line">
            <a:avLst/>
          </a:prstGeom>
          <a:ln w="10160">
            <a:solidFill>
              <a:srgbClr val="264158"/>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02920" y="6556248"/>
            <a:ext cx="4023360" cy="164592"/>
          </a:xfrm>
          <a:prstGeom prst="rect">
            <a:avLst/>
          </a:prstGeom>
          <a:noFill/>
        </p:spPr>
        <p:txBody>
          <a:bodyPr wrap="none" lIns="0" rIns="0" tIns="0" bIns="0" anchor="t">
            <a:spAutoFit/>
          </a:bodyPr>
          <a:lstStyle/>
          <a:p>
            <a:pPr algn="l">
              <a:lnSpc>
                <a:spcPct val="100000"/>
              </a:lnSpc>
            </a:pPr>
            <a:r>
              <a:rPr sz="750" b="1">
                <a:solidFill>
                  <a:srgbClr val="A8B8C8"/>
                </a:solidFill>
                <a:latin typeface="Aptos"/>
              </a:rPr>
              <a:t>ĐỖ TRỌNG MINH · APPLIED AI ENGINEER</a:t>
            </a:r>
          </a:p>
        </p:txBody>
      </p:sp>
      <p:sp>
        <p:nvSpPr>
          <p:cNvPr id="59" name="TextBox 58"/>
          <p:cNvSpPr txBox="1"/>
          <p:nvPr/>
        </p:nvSpPr>
        <p:spPr>
          <a:xfrm>
            <a:off x="8412480" y="6556248"/>
            <a:ext cx="3273552" cy="164592"/>
          </a:xfrm>
          <a:prstGeom prst="rect">
            <a:avLst/>
          </a:prstGeom>
          <a:noFill/>
        </p:spPr>
        <p:txBody>
          <a:bodyPr wrap="none" lIns="0" rIns="0" tIns="0" bIns="0" anchor="t">
            <a:spAutoFit/>
          </a:bodyPr>
          <a:lstStyle/>
          <a:p>
            <a:pPr algn="r">
              <a:lnSpc>
                <a:spcPct val="100000"/>
              </a:lnSpc>
            </a:pPr>
            <a:r>
              <a:rPr sz="750" b="1">
                <a:solidFill>
                  <a:srgbClr val="A8B8C8"/>
                </a:solidFill>
                <a:latin typeface="Aptos"/>
              </a:rPr>
              <a:t>ARCHITECTURE &amp; EVIDENCE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502920" cy="292608"/>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04</a:t>
            </a:r>
          </a:p>
        </p:txBody>
      </p:sp>
      <p:cxnSp>
        <p:nvCxnSpPr>
          <p:cNvPr id="4" name="Connector 3"/>
          <p:cNvCxnSpPr/>
          <p:nvPr/>
        </p:nvCxnSpPr>
        <p:spPr>
          <a:xfrm>
            <a:off x="1051560" y="502920"/>
            <a:ext cx="521208" cy="0"/>
          </a:xfrm>
          <a:prstGeom prst="line">
            <a:avLst/>
          </a:prstGeom>
          <a:ln w="19050">
            <a:solidFill>
              <a:srgbClr val="42D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82496" y="347472"/>
            <a:ext cx="4389120" cy="292608"/>
          </a:xfrm>
          <a:prstGeom prst="rect">
            <a:avLst/>
          </a:prstGeom>
          <a:noFill/>
        </p:spPr>
        <p:txBody>
          <a:bodyPr wrap="none" lIns="0" rIns="0" tIns="0" bIns="0" anchor="t">
            <a:spAutoFit/>
          </a:bodyPr>
          <a:lstStyle/>
          <a:p>
            <a:pPr algn="l">
              <a:lnSpc>
                <a:spcPct val="100000"/>
              </a:lnSpc>
            </a:pPr>
            <a:r>
              <a:rPr sz="1000" b="1">
                <a:solidFill>
                  <a:srgbClr val="A8B8C8"/>
                </a:solidFill>
                <a:latin typeface="Aptos"/>
              </a:rPr>
              <a:t>CASE STUDY 02</a:t>
            </a:r>
          </a:p>
        </p:txBody>
      </p:sp>
      <p:sp>
        <p:nvSpPr>
          <p:cNvPr id="6" name="TextBox 5"/>
          <p:cNvSpPr txBox="1"/>
          <p:nvPr/>
        </p:nvSpPr>
        <p:spPr>
          <a:xfrm>
            <a:off x="502920" y="749808"/>
            <a:ext cx="11109960" cy="566928"/>
          </a:xfrm>
          <a:prstGeom prst="rect">
            <a:avLst/>
          </a:prstGeom>
          <a:noFill/>
        </p:spPr>
        <p:txBody>
          <a:bodyPr wrap="none" lIns="0" rIns="0" tIns="0" bIns="0" anchor="t">
            <a:spAutoFit/>
          </a:bodyPr>
          <a:lstStyle/>
          <a:p>
            <a:pPr algn="l">
              <a:lnSpc>
                <a:spcPct val="100000"/>
              </a:lnSpc>
            </a:pPr>
            <a:r>
              <a:rPr sz="2800" b="1">
                <a:solidFill>
                  <a:srgbClr val="F6F8FB"/>
                </a:solidFill>
                <a:latin typeface="Aptos"/>
              </a:rPr>
              <a:t>Football Video Analysis</a:t>
            </a:r>
          </a:p>
        </p:txBody>
      </p:sp>
      <p:sp>
        <p:nvSpPr>
          <p:cNvPr id="7" name="TextBox 6"/>
          <p:cNvSpPr txBox="1"/>
          <p:nvPr/>
        </p:nvSpPr>
        <p:spPr>
          <a:xfrm>
            <a:off x="521207" y="1307592"/>
            <a:ext cx="10789920" cy="329184"/>
          </a:xfrm>
          <a:prstGeom prst="rect">
            <a:avLst/>
          </a:prstGeom>
          <a:noFill/>
        </p:spPr>
        <p:txBody>
          <a:bodyPr wrap="none" lIns="0" rIns="0" tIns="0" bIns="0" anchor="t">
            <a:spAutoFit/>
          </a:bodyPr>
          <a:lstStyle/>
          <a:p>
            <a:pPr algn="l">
              <a:lnSpc>
                <a:spcPct val="100000"/>
              </a:lnSpc>
            </a:pPr>
            <a:r>
              <a:rPr sz="1100" b="0">
                <a:solidFill>
                  <a:srgbClr val="A8B8C8"/>
                </a:solidFill>
                <a:latin typeface="Aptos"/>
              </a:rPr>
              <a:t>Unstructured visual input → coordinates, trajectories and events</a:t>
            </a:r>
          </a:p>
        </p:txBody>
      </p:sp>
      <p:sp>
        <p:nvSpPr>
          <p:cNvPr id="8" name="Rounded Rectangle 7"/>
          <p:cNvSpPr/>
          <p:nvPr/>
        </p:nvSpPr>
        <p:spPr>
          <a:xfrm>
            <a:off x="502920" y="1847088"/>
            <a:ext cx="1481328" cy="932688"/>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65960"/>
            <a:ext cx="1481328" cy="320040"/>
          </a:xfrm>
          <a:prstGeom prst="rect">
            <a:avLst/>
          </a:prstGeom>
          <a:noFill/>
        </p:spPr>
        <p:txBody>
          <a:bodyPr wrap="none" lIns="0" rIns="0" tIns="0" bIns="0" anchor="t">
            <a:spAutoFit/>
          </a:bodyPr>
          <a:lstStyle/>
          <a:p>
            <a:pPr algn="ctr">
              <a:lnSpc>
                <a:spcPct val="100000"/>
              </a:lnSpc>
            </a:pPr>
            <a:r>
              <a:rPr sz="1600" b="1">
                <a:solidFill>
                  <a:srgbClr val="42D3E8"/>
                </a:solidFill>
                <a:latin typeface="Aptos"/>
              </a:rPr>
              <a:t>VIDEO</a:t>
            </a:r>
          </a:p>
        </p:txBody>
      </p:sp>
      <p:sp>
        <p:nvSpPr>
          <p:cNvPr id="10" name="TextBox 9"/>
          <p:cNvSpPr txBox="1"/>
          <p:nvPr/>
        </p:nvSpPr>
        <p:spPr>
          <a:xfrm>
            <a:off x="502920" y="2386584"/>
            <a:ext cx="1481328" cy="182880"/>
          </a:xfrm>
          <a:prstGeom prst="rect">
            <a:avLst/>
          </a:prstGeom>
          <a:noFill/>
        </p:spPr>
        <p:txBody>
          <a:bodyPr wrap="none" lIns="0" rIns="0" tIns="0" bIns="0" anchor="t">
            <a:spAutoFit/>
          </a:bodyPr>
          <a:lstStyle/>
          <a:p>
            <a:pPr algn="ctr">
              <a:lnSpc>
                <a:spcPct val="100000"/>
              </a:lnSpc>
            </a:pPr>
            <a:r>
              <a:rPr sz="750" b="1">
                <a:solidFill>
                  <a:srgbClr val="A8B8C8"/>
                </a:solidFill>
                <a:latin typeface="Aptos"/>
              </a:rPr>
              <a:t>RAW INPUT</a:t>
            </a:r>
          </a:p>
        </p:txBody>
      </p:sp>
      <p:cxnSp>
        <p:nvCxnSpPr>
          <p:cNvPr id="11" name="Connector 10"/>
          <p:cNvCxnSpPr/>
          <p:nvPr/>
        </p:nvCxnSpPr>
        <p:spPr>
          <a:xfrm>
            <a:off x="2011680" y="2304288"/>
            <a:ext cx="356616" cy="0"/>
          </a:xfrm>
          <a:prstGeom prst="line">
            <a:avLst/>
          </a:prstGeom>
          <a:ln w="25400">
            <a:solidFill>
              <a:srgbClr val="26415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3160" y="1847088"/>
            <a:ext cx="1481328" cy="932688"/>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23160" y="1965960"/>
            <a:ext cx="1481328" cy="320040"/>
          </a:xfrm>
          <a:prstGeom prst="rect">
            <a:avLst/>
          </a:prstGeom>
          <a:noFill/>
        </p:spPr>
        <p:txBody>
          <a:bodyPr wrap="none" lIns="0" rIns="0" tIns="0" bIns="0" anchor="t">
            <a:spAutoFit/>
          </a:bodyPr>
          <a:lstStyle/>
          <a:p>
            <a:pPr algn="ctr">
              <a:lnSpc>
                <a:spcPct val="100000"/>
              </a:lnSpc>
            </a:pPr>
            <a:r>
              <a:rPr sz="1600" b="1">
                <a:solidFill>
                  <a:srgbClr val="42D3E8"/>
                </a:solidFill>
                <a:latin typeface="Aptos"/>
              </a:rPr>
              <a:t>YOLO</a:t>
            </a:r>
          </a:p>
        </p:txBody>
      </p:sp>
      <p:sp>
        <p:nvSpPr>
          <p:cNvPr id="14" name="TextBox 13"/>
          <p:cNvSpPr txBox="1"/>
          <p:nvPr/>
        </p:nvSpPr>
        <p:spPr>
          <a:xfrm>
            <a:off x="2423160" y="2386584"/>
            <a:ext cx="1481328" cy="182880"/>
          </a:xfrm>
          <a:prstGeom prst="rect">
            <a:avLst/>
          </a:prstGeom>
          <a:noFill/>
        </p:spPr>
        <p:txBody>
          <a:bodyPr wrap="none" lIns="0" rIns="0" tIns="0" bIns="0" anchor="t">
            <a:spAutoFit/>
          </a:bodyPr>
          <a:lstStyle/>
          <a:p>
            <a:pPr algn="ctr">
              <a:lnSpc>
                <a:spcPct val="100000"/>
              </a:lnSpc>
            </a:pPr>
            <a:r>
              <a:rPr sz="750" b="1">
                <a:solidFill>
                  <a:srgbClr val="A8B8C8"/>
                </a:solidFill>
                <a:latin typeface="Aptos"/>
              </a:rPr>
              <a:t>DETECTION</a:t>
            </a:r>
          </a:p>
        </p:txBody>
      </p:sp>
      <p:cxnSp>
        <p:nvCxnSpPr>
          <p:cNvPr id="15" name="Connector 14"/>
          <p:cNvCxnSpPr/>
          <p:nvPr/>
        </p:nvCxnSpPr>
        <p:spPr>
          <a:xfrm>
            <a:off x="3931920" y="2304288"/>
            <a:ext cx="356616" cy="0"/>
          </a:xfrm>
          <a:prstGeom prst="line">
            <a:avLst/>
          </a:prstGeom>
          <a:ln w="25400">
            <a:solidFill>
              <a:srgbClr val="26415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43400" y="1847088"/>
            <a:ext cx="1481328" cy="932688"/>
          </a:xfrm>
          <a:prstGeom prst="roundRect">
            <a:avLst/>
          </a:prstGeom>
          <a:solidFill>
            <a:srgbClr val="12263A"/>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43400" y="1965960"/>
            <a:ext cx="1481328" cy="320040"/>
          </a:xfrm>
          <a:prstGeom prst="rect">
            <a:avLst/>
          </a:prstGeom>
          <a:noFill/>
        </p:spPr>
        <p:txBody>
          <a:bodyPr wrap="none" lIns="0" rIns="0" tIns="0" bIns="0" anchor="t">
            <a:spAutoFit/>
          </a:bodyPr>
          <a:lstStyle/>
          <a:p>
            <a:pPr algn="ctr">
              <a:lnSpc>
                <a:spcPct val="100000"/>
              </a:lnSpc>
            </a:pPr>
            <a:r>
              <a:rPr sz="1600" b="1">
                <a:solidFill>
                  <a:srgbClr val="B7F34A"/>
                </a:solidFill>
                <a:latin typeface="Aptos"/>
              </a:rPr>
              <a:t>ID</a:t>
            </a:r>
          </a:p>
        </p:txBody>
      </p:sp>
      <p:sp>
        <p:nvSpPr>
          <p:cNvPr id="18" name="TextBox 17"/>
          <p:cNvSpPr txBox="1"/>
          <p:nvPr/>
        </p:nvSpPr>
        <p:spPr>
          <a:xfrm>
            <a:off x="4343400" y="2386584"/>
            <a:ext cx="1481328" cy="182880"/>
          </a:xfrm>
          <a:prstGeom prst="rect">
            <a:avLst/>
          </a:prstGeom>
          <a:noFill/>
        </p:spPr>
        <p:txBody>
          <a:bodyPr wrap="none" lIns="0" rIns="0" tIns="0" bIns="0" anchor="t">
            <a:spAutoFit/>
          </a:bodyPr>
          <a:lstStyle/>
          <a:p>
            <a:pPr algn="ctr">
              <a:lnSpc>
                <a:spcPct val="100000"/>
              </a:lnSpc>
            </a:pPr>
            <a:r>
              <a:rPr sz="750" b="1">
                <a:solidFill>
                  <a:srgbClr val="A8B8C8"/>
                </a:solidFill>
                <a:latin typeface="Aptos"/>
              </a:rPr>
              <a:t>TRACKING</a:t>
            </a:r>
          </a:p>
        </p:txBody>
      </p:sp>
      <p:cxnSp>
        <p:nvCxnSpPr>
          <p:cNvPr id="19" name="Connector 18"/>
          <p:cNvCxnSpPr/>
          <p:nvPr/>
        </p:nvCxnSpPr>
        <p:spPr>
          <a:xfrm>
            <a:off x="5852160" y="2304288"/>
            <a:ext cx="356616" cy="0"/>
          </a:xfrm>
          <a:prstGeom prst="line">
            <a:avLst/>
          </a:prstGeom>
          <a:ln w="25400">
            <a:solidFill>
              <a:srgbClr val="264158"/>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63640" y="1847088"/>
            <a:ext cx="1481328" cy="932688"/>
          </a:xfrm>
          <a:prstGeom prst="roundRect">
            <a:avLst/>
          </a:prstGeom>
          <a:solidFill>
            <a:srgbClr val="12263A"/>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1965960"/>
            <a:ext cx="1481328" cy="320040"/>
          </a:xfrm>
          <a:prstGeom prst="rect">
            <a:avLst/>
          </a:prstGeom>
          <a:noFill/>
        </p:spPr>
        <p:txBody>
          <a:bodyPr wrap="none" lIns="0" rIns="0" tIns="0" bIns="0" anchor="t">
            <a:spAutoFit/>
          </a:bodyPr>
          <a:lstStyle/>
          <a:p>
            <a:pPr algn="ctr">
              <a:lnSpc>
                <a:spcPct val="100000"/>
              </a:lnSpc>
            </a:pPr>
            <a:r>
              <a:rPr sz="1600" b="1">
                <a:solidFill>
                  <a:srgbClr val="FFB65C"/>
                </a:solidFill>
                <a:latin typeface="Aptos"/>
              </a:rPr>
              <a:t>ΔXY</a:t>
            </a:r>
          </a:p>
        </p:txBody>
      </p:sp>
      <p:sp>
        <p:nvSpPr>
          <p:cNvPr id="22" name="TextBox 21"/>
          <p:cNvSpPr txBox="1"/>
          <p:nvPr/>
        </p:nvSpPr>
        <p:spPr>
          <a:xfrm>
            <a:off x="6263640" y="2386584"/>
            <a:ext cx="1481328" cy="182880"/>
          </a:xfrm>
          <a:prstGeom prst="rect">
            <a:avLst/>
          </a:prstGeom>
          <a:noFill/>
        </p:spPr>
        <p:txBody>
          <a:bodyPr wrap="none" lIns="0" rIns="0" tIns="0" bIns="0" anchor="t">
            <a:spAutoFit/>
          </a:bodyPr>
          <a:lstStyle/>
          <a:p>
            <a:pPr algn="ctr">
              <a:lnSpc>
                <a:spcPct val="100000"/>
              </a:lnSpc>
            </a:pPr>
            <a:r>
              <a:rPr sz="750" b="1">
                <a:solidFill>
                  <a:srgbClr val="A8B8C8"/>
                </a:solidFill>
                <a:latin typeface="Aptos"/>
              </a:rPr>
              <a:t>CAMERA</a:t>
            </a:r>
          </a:p>
        </p:txBody>
      </p:sp>
      <p:cxnSp>
        <p:nvCxnSpPr>
          <p:cNvPr id="23" name="Connector 22"/>
          <p:cNvCxnSpPr/>
          <p:nvPr/>
        </p:nvCxnSpPr>
        <p:spPr>
          <a:xfrm>
            <a:off x="7772400" y="2304288"/>
            <a:ext cx="356616" cy="0"/>
          </a:xfrm>
          <a:prstGeom prst="line">
            <a:avLst/>
          </a:prstGeom>
          <a:ln w="25400">
            <a:solidFill>
              <a:srgbClr val="264158"/>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83880" y="1847088"/>
            <a:ext cx="1481328" cy="932688"/>
          </a:xfrm>
          <a:prstGeom prst="roundRect">
            <a:avLst/>
          </a:prstGeom>
          <a:solidFill>
            <a:srgbClr val="12263A"/>
          </a:solidFill>
          <a:ln w="12700">
            <a:solidFill>
              <a:srgbClr val="FF72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80" y="1965960"/>
            <a:ext cx="1481328" cy="320040"/>
          </a:xfrm>
          <a:prstGeom prst="rect">
            <a:avLst/>
          </a:prstGeom>
          <a:noFill/>
        </p:spPr>
        <p:txBody>
          <a:bodyPr wrap="none" lIns="0" rIns="0" tIns="0" bIns="0" anchor="t">
            <a:spAutoFit/>
          </a:bodyPr>
          <a:lstStyle/>
          <a:p>
            <a:pPr algn="ctr">
              <a:lnSpc>
                <a:spcPct val="100000"/>
              </a:lnSpc>
            </a:pPr>
            <a:r>
              <a:rPr sz="1600" b="1">
                <a:solidFill>
                  <a:srgbClr val="FF7272"/>
                </a:solidFill>
                <a:latin typeface="Aptos"/>
              </a:rPr>
              <a:t>H</a:t>
            </a:r>
          </a:p>
        </p:txBody>
      </p:sp>
      <p:sp>
        <p:nvSpPr>
          <p:cNvPr id="26" name="TextBox 25"/>
          <p:cNvSpPr txBox="1"/>
          <p:nvPr/>
        </p:nvSpPr>
        <p:spPr>
          <a:xfrm>
            <a:off x="8183880" y="2386584"/>
            <a:ext cx="1481328" cy="182880"/>
          </a:xfrm>
          <a:prstGeom prst="rect">
            <a:avLst/>
          </a:prstGeom>
          <a:noFill/>
        </p:spPr>
        <p:txBody>
          <a:bodyPr wrap="none" lIns="0" rIns="0" tIns="0" bIns="0" anchor="t">
            <a:spAutoFit/>
          </a:bodyPr>
          <a:lstStyle/>
          <a:p>
            <a:pPr algn="ctr">
              <a:lnSpc>
                <a:spcPct val="100000"/>
              </a:lnSpc>
            </a:pPr>
            <a:r>
              <a:rPr sz="750" b="1">
                <a:solidFill>
                  <a:srgbClr val="A8B8C8"/>
                </a:solidFill>
                <a:latin typeface="Aptos"/>
              </a:rPr>
              <a:t>HOMOGRAPHY</a:t>
            </a:r>
          </a:p>
        </p:txBody>
      </p:sp>
      <p:cxnSp>
        <p:nvCxnSpPr>
          <p:cNvPr id="27" name="Connector 26"/>
          <p:cNvCxnSpPr/>
          <p:nvPr/>
        </p:nvCxnSpPr>
        <p:spPr>
          <a:xfrm>
            <a:off x="9692640" y="2304288"/>
            <a:ext cx="356616" cy="0"/>
          </a:xfrm>
          <a:prstGeom prst="line">
            <a:avLst/>
          </a:prstGeom>
          <a:ln w="25400">
            <a:solidFill>
              <a:srgbClr val="26415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104120" y="1847088"/>
            <a:ext cx="1481328" cy="932688"/>
          </a:xfrm>
          <a:prstGeom prst="roundRect">
            <a:avLst/>
          </a:prstGeom>
          <a:solidFill>
            <a:srgbClr val="12263A"/>
          </a:solidFill>
          <a:ln w="12700">
            <a:solidFill>
              <a:srgbClr val="F6F8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04120" y="1965960"/>
            <a:ext cx="1481328" cy="320040"/>
          </a:xfrm>
          <a:prstGeom prst="rect">
            <a:avLst/>
          </a:prstGeom>
          <a:noFill/>
        </p:spPr>
        <p:txBody>
          <a:bodyPr wrap="none" lIns="0" rIns="0" tIns="0" bIns="0" anchor="t">
            <a:spAutoFit/>
          </a:bodyPr>
          <a:lstStyle/>
          <a:p>
            <a:pPr algn="ctr">
              <a:lnSpc>
                <a:spcPct val="100000"/>
              </a:lnSpc>
            </a:pPr>
            <a:r>
              <a:rPr sz="1600" b="1">
                <a:solidFill>
                  <a:srgbClr val="F6F8FB"/>
                </a:solidFill>
                <a:latin typeface="Aptos"/>
              </a:rPr>
              <a:t>m</a:t>
            </a:r>
          </a:p>
        </p:txBody>
      </p:sp>
      <p:sp>
        <p:nvSpPr>
          <p:cNvPr id="30" name="TextBox 29"/>
          <p:cNvSpPr txBox="1"/>
          <p:nvPr/>
        </p:nvSpPr>
        <p:spPr>
          <a:xfrm>
            <a:off x="10104120" y="2386584"/>
            <a:ext cx="1481328" cy="182880"/>
          </a:xfrm>
          <a:prstGeom prst="rect">
            <a:avLst/>
          </a:prstGeom>
          <a:noFill/>
        </p:spPr>
        <p:txBody>
          <a:bodyPr wrap="none" lIns="0" rIns="0" tIns="0" bIns="0" anchor="t">
            <a:spAutoFit/>
          </a:bodyPr>
          <a:lstStyle/>
          <a:p>
            <a:pPr algn="ctr">
              <a:lnSpc>
                <a:spcPct val="100000"/>
              </a:lnSpc>
            </a:pPr>
            <a:r>
              <a:rPr sz="750" b="1">
                <a:solidFill>
                  <a:srgbClr val="A8B8C8"/>
                </a:solidFill>
                <a:latin typeface="Aptos"/>
              </a:rPr>
              <a:t>REAL WORLD</a:t>
            </a:r>
          </a:p>
        </p:txBody>
      </p:sp>
      <p:sp>
        <p:nvSpPr>
          <p:cNvPr id="31" name="Rounded Rectangle 30"/>
          <p:cNvSpPr/>
          <p:nvPr/>
        </p:nvSpPr>
        <p:spPr>
          <a:xfrm>
            <a:off x="502920" y="3127248"/>
            <a:ext cx="4709160" cy="2670048"/>
          </a:xfrm>
          <a:prstGeom prst="roundRect">
            <a:avLst/>
          </a:prstGeom>
          <a:solidFill>
            <a:srgbClr val="0D1C2E"/>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val_batch1_pred.jpg"/>
          <p:cNvPicPr>
            <a:picLocks noChangeAspect="1"/>
          </p:cNvPicPr>
          <p:nvPr/>
        </p:nvPicPr>
        <p:blipFill>
          <a:blip r:embed="rId2"/>
          <a:srcRect t="3810" b="3810"/>
          <a:stretch>
            <a:fillRect/>
          </a:stretch>
        </p:blipFill>
        <p:spPr>
          <a:xfrm>
            <a:off x="676656" y="3310128"/>
            <a:ext cx="4361688" cy="2304288"/>
          </a:xfrm>
          <a:prstGeom prst="rect">
            <a:avLst/>
          </a:prstGeom>
        </p:spPr>
      </p:pic>
      <p:sp>
        <p:nvSpPr>
          <p:cNvPr id="33" name="Rounded Rectangle 32"/>
          <p:cNvSpPr/>
          <p:nvPr/>
        </p:nvSpPr>
        <p:spPr>
          <a:xfrm>
            <a:off x="5477256" y="3127248"/>
            <a:ext cx="6208776" cy="2670048"/>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06440" y="3429000"/>
            <a:ext cx="3474720" cy="228600"/>
          </a:xfrm>
          <a:prstGeom prst="rect">
            <a:avLst/>
          </a:prstGeom>
          <a:noFill/>
        </p:spPr>
        <p:txBody>
          <a:bodyPr wrap="none" lIns="0" rIns="0" tIns="0" bIns="0" anchor="t">
            <a:spAutoFit/>
          </a:bodyPr>
          <a:lstStyle/>
          <a:p>
            <a:pPr algn="l">
              <a:lnSpc>
                <a:spcPct val="100000"/>
              </a:lnSpc>
            </a:pPr>
            <a:r>
              <a:rPr sz="950" b="1">
                <a:solidFill>
                  <a:srgbClr val="B7F34A"/>
                </a:solidFill>
                <a:latin typeface="Aptos"/>
              </a:rPr>
              <a:t>TRANSFERABLE FOUNDATION</a:t>
            </a:r>
          </a:p>
        </p:txBody>
      </p:sp>
      <p:sp>
        <p:nvSpPr>
          <p:cNvPr id="35" name="TextBox 34"/>
          <p:cNvSpPr txBox="1"/>
          <p:nvPr/>
        </p:nvSpPr>
        <p:spPr>
          <a:xfrm>
            <a:off x="5797296" y="3840480"/>
            <a:ext cx="201168"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36" name="TextBox 35"/>
          <p:cNvSpPr txBox="1"/>
          <p:nvPr/>
        </p:nvSpPr>
        <p:spPr>
          <a:xfrm>
            <a:off x="6044184" y="3840480"/>
            <a:ext cx="15087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Detection</a:t>
            </a:r>
          </a:p>
        </p:txBody>
      </p:sp>
      <p:sp>
        <p:nvSpPr>
          <p:cNvPr id="37" name="TextBox 36"/>
          <p:cNvSpPr txBox="1"/>
          <p:nvPr/>
        </p:nvSpPr>
        <p:spPr>
          <a:xfrm>
            <a:off x="7571231" y="3840480"/>
            <a:ext cx="3456432" cy="201168"/>
          </a:xfrm>
          <a:prstGeom prst="rect">
            <a:avLst/>
          </a:prstGeom>
          <a:noFill/>
        </p:spPr>
        <p:txBody>
          <a:bodyPr wrap="none" lIns="0" rIns="0" tIns="0" bIns="0" anchor="t">
            <a:spAutoFit/>
          </a:bodyPr>
          <a:lstStyle/>
          <a:p>
            <a:pPr algn="l">
              <a:lnSpc>
                <a:spcPct val="100000"/>
              </a:lnSpc>
            </a:pPr>
            <a:r>
              <a:rPr sz="969" b="0">
                <a:solidFill>
                  <a:srgbClr val="A8B8C8"/>
                </a:solidFill>
                <a:latin typeface="Aptos"/>
              </a:rPr>
              <a:t>objects from pixels</a:t>
            </a:r>
          </a:p>
        </p:txBody>
      </p:sp>
      <p:sp>
        <p:nvSpPr>
          <p:cNvPr id="38" name="TextBox 37"/>
          <p:cNvSpPr txBox="1"/>
          <p:nvPr/>
        </p:nvSpPr>
        <p:spPr>
          <a:xfrm>
            <a:off x="5797296" y="4197096"/>
            <a:ext cx="201168"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39" name="TextBox 38"/>
          <p:cNvSpPr txBox="1"/>
          <p:nvPr/>
        </p:nvSpPr>
        <p:spPr>
          <a:xfrm>
            <a:off x="6044184" y="4197096"/>
            <a:ext cx="15087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Tracking</a:t>
            </a:r>
          </a:p>
        </p:txBody>
      </p:sp>
      <p:sp>
        <p:nvSpPr>
          <p:cNvPr id="40" name="TextBox 39"/>
          <p:cNvSpPr txBox="1"/>
          <p:nvPr/>
        </p:nvSpPr>
        <p:spPr>
          <a:xfrm>
            <a:off x="7571231" y="4197096"/>
            <a:ext cx="3456432" cy="201168"/>
          </a:xfrm>
          <a:prstGeom prst="rect">
            <a:avLst/>
          </a:prstGeom>
          <a:noFill/>
        </p:spPr>
        <p:txBody>
          <a:bodyPr wrap="none" lIns="0" rIns="0" tIns="0" bIns="0" anchor="t">
            <a:spAutoFit/>
          </a:bodyPr>
          <a:lstStyle/>
          <a:p>
            <a:pPr algn="l">
              <a:lnSpc>
                <a:spcPct val="100000"/>
              </a:lnSpc>
            </a:pPr>
            <a:r>
              <a:rPr sz="969" b="0">
                <a:solidFill>
                  <a:srgbClr val="A8B8C8"/>
                </a:solidFill>
                <a:latin typeface="Aptos"/>
              </a:rPr>
              <a:t>identity through time</a:t>
            </a:r>
          </a:p>
        </p:txBody>
      </p:sp>
      <p:sp>
        <p:nvSpPr>
          <p:cNvPr id="41" name="TextBox 40"/>
          <p:cNvSpPr txBox="1"/>
          <p:nvPr/>
        </p:nvSpPr>
        <p:spPr>
          <a:xfrm>
            <a:off x="5797296" y="4553712"/>
            <a:ext cx="201168"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42" name="TextBox 41"/>
          <p:cNvSpPr txBox="1"/>
          <p:nvPr/>
        </p:nvSpPr>
        <p:spPr>
          <a:xfrm>
            <a:off x="6044184" y="4553712"/>
            <a:ext cx="15087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Spatial transform</a:t>
            </a:r>
          </a:p>
        </p:txBody>
      </p:sp>
      <p:sp>
        <p:nvSpPr>
          <p:cNvPr id="43" name="TextBox 42"/>
          <p:cNvSpPr txBox="1"/>
          <p:nvPr/>
        </p:nvSpPr>
        <p:spPr>
          <a:xfrm>
            <a:off x="7571231" y="4553712"/>
            <a:ext cx="3456432" cy="201168"/>
          </a:xfrm>
          <a:prstGeom prst="rect">
            <a:avLst/>
          </a:prstGeom>
          <a:noFill/>
        </p:spPr>
        <p:txBody>
          <a:bodyPr wrap="none" lIns="0" rIns="0" tIns="0" bIns="0" anchor="t">
            <a:spAutoFit/>
          </a:bodyPr>
          <a:lstStyle/>
          <a:p>
            <a:pPr algn="l">
              <a:lnSpc>
                <a:spcPct val="100000"/>
              </a:lnSpc>
            </a:pPr>
            <a:r>
              <a:rPr sz="969" b="0">
                <a:solidFill>
                  <a:srgbClr val="A8B8C8"/>
                </a:solidFill>
                <a:latin typeface="Aptos"/>
              </a:rPr>
              <a:t>image plane → ground plane</a:t>
            </a:r>
          </a:p>
        </p:txBody>
      </p:sp>
      <p:sp>
        <p:nvSpPr>
          <p:cNvPr id="44" name="TextBox 43"/>
          <p:cNvSpPr txBox="1"/>
          <p:nvPr/>
        </p:nvSpPr>
        <p:spPr>
          <a:xfrm>
            <a:off x="5797296" y="4910328"/>
            <a:ext cx="201168"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45" name="TextBox 44"/>
          <p:cNvSpPr txBox="1"/>
          <p:nvPr/>
        </p:nvSpPr>
        <p:spPr>
          <a:xfrm>
            <a:off x="6044184" y="4910328"/>
            <a:ext cx="15087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Coordinates</a:t>
            </a:r>
          </a:p>
        </p:txBody>
      </p:sp>
      <p:sp>
        <p:nvSpPr>
          <p:cNvPr id="46" name="TextBox 45"/>
          <p:cNvSpPr txBox="1"/>
          <p:nvPr/>
        </p:nvSpPr>
        <p:spPr>
          <a:xfrm>
            <a:off x="7571231" y="4910328"/>
            <a:ext cx="3456432" cy="201168"/>
          </a:xfrm>
          <a:prstGeom prst="rect">
            <a:avLst/>
          </a:prstGeom>
          <a:noFill/>
        </p:spPr>
        <p:txBody>
          <a:bodyPr wrap="none" lIns="0" rIns="0" tIns="0" bIns="0" anchor="t">
            <a:spAutoFit/>
          </a:bodyPr>
          <a:lstStyle/>
          <a:p>
            <a:pPr algn="l">
              <a:lnSpc>
                <a:spcPct val="100000"/>
              </a:lnSpc>
            </a:pPr>
            <a:r>
              <a:rPr sz="969" b="0">
                <a:solidFill>
                  <a:srgbClr val="A8B8C8"/>
                </a:solidFill>
                <a:latin typeface="Aptos"/>
              </a:rPr>
              <a:t>consistent representations</a:t>
            </a:r>
          </a:p>
        </p:txBody>
      </p:sp>
      <p:sp>
        <p:nvSpPr>
          <p:cNvPr id="47" name="TextBox 46"/>
          <p:cNvSpPr txBox="1"/>
          <p:nvPr/>
        </p:nvSpPr>
        <p:spPr>
          <a:xfrm>
            <a:off x="5797296" y="5266944"/>
            <a:ext cx="201168"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48" name="TextBox 47"/>
          <p:cNvSpPr txBox="1"/>
          <p:nvPr/>
        </p:nvSpPr>
        <p:spPr>
          <a:xfrm>
            <a:off x="6044184" y="5266944"/>
            <a:ext cx="15087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Error propagation</a:t>
            </a:r>
          </a:p>
        </p:txBody>
      </p:sp>
      <p:sp>
        <p:nvSpPr>
          <p:cNvPr id="49" name="TextBox 48"/>
          <p:cNvSpPr txBox="1"/>
          <p:nvPr/>
        </p:nvSpPr>
        <p:spPr>
          <a:xfrm>
            <a:off x="7571231" y="5266944"/>
            <a:ext cx="3456432" cy="201168"/>
          </a:xfrm>
          <a:prstGeom prst="rect">
            <a:avLst/>
          </a:prstGeom>
          <a:noFill/>
        </p:spPr>
        <p:txBody>
          <a:bodyPr wrap="none" lIns="0" rIns="0" tIns="0" bIns="0" anchor="t">
            <a:spAutoFit/>
          </a:bodyPr>
          <a:lstStyle/>
          <a:p>
            <a:pPr algn="l">
              <a:lnSpc>
                <a:spcPct val="100000"/>
              </a:lnSpc>
            </a:pPr>
            <a:r>
              <a:rPr sz="969" b="0">
                <a:solidFill>
                  <a:srgbClr val="A8B8C8"/>
                </a:solidFill>
                <a:latin typeface="Aptos"/>
              </a:rPr>
              <a:t>upstream noise affects metrics</a:t>
            </a:r>
          </a:p>
        </p:txBody>
      </p:sp>
      <p:sp>
        <p:nvSpPr>
          <p:cNvPr id="50" name="TextBox 49"/>
          <p:cNvSpPr txBox="1"/>
          <p:nvPr/>
        </p:nvSpPr>
        <p:spPr>
          <a:xfrm>
            <a:off x="5806440" y="5705856"/>
            <a:ext cx="1188720" cy="201168"/>
          </a:xfrm>
          <a:prstGeom prst="rect">
            <a:avLst/>
          </a:prstGeom>
          <a:noFill/>
        </p:spPr>
        <p:txBody>
          <a:bodyPr wrap="none" lIns="0" rIns="0" tIns="0" bIns="0" anchor="t">
            <a:spAutoFit/>
          </a:bodyPr>
          <a:lstStyle/>
          <a:p>
            <a:pPr algn="l">
              <a:lnSpc>
                <a:spcPct val="100000"/>
              </a:lnSpc>
            </a:pPr>
            <a:r>
              <a:rPr sz="850" b="1">
                <a:solidFill>
                  <a:srgbClr val="FFB65C"/>
                </a:solidFill>
                <a:latin typeface="Aptos"/>
              </a:rPr>
              <a:t>AEC connection</a:t>
            </a:r>
          </a:p>
        </p:txBody>
      </p:sp>
      <p:sp>
        <p:nvSpPr>
          <p:cNvPr id="51" name="TextBox 50"/>
          <p:cNvSpPr txBox="1"/>
          <p:nvPr/>
        </p:nvSpPr>
        <p:spPr>
          <a:xfrm>
            <a:off x="6967728" y="5696712"/>
            <a:ext cx="4251960" cy="219456"/>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Visual data → geometry / structured representation</a:t>
            </a:r>
          </a:p>
        </p:txBody>
      </p:sp>
      <p:cxnSp>
        <p:nvCxnSpPr>
          <p:cNvPr id="52" name="Connector 51"/>
          <p:cNvCxnSpPr/>
          <p:nvPr/>
        </p:nvCxnSpPr>
        <p:spPr>
          <a:xfrm>
            <a:off x="502920" y="6492240"/>
            <a:ext cx="11183112" cy="0"/>
          </a:xfrm>
          <a:prstGeom prst="line">
            <a:avLst/>
          </a:prstGeom>
          <a:ln w="10160">
            <a:solidFill>
              <a:srgbClr val="264158"/>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02920" y="6556248"/>
            <a:ext cx="4023360" cy="164592"/>
          </a:xfrm>
          <a:prstGeom prst="rect">
            <a:avLst/>
          </a:prstGeom>
          <a:noFill/>
        </p:spPr>
        <p:txBody>
          <a:bodyPr wrap="none" lIns="0" rIns="0" tIns="0" bIns="0" anchor="t">
            <a:spAutoFit/>
          </a:bodyPr>
          <a:lstStyle/>
          <a:p>
            <a:pPr algn="l">
              <a:lnSpc>
                <a:spcPct val="100000"/>
              </a:lnSpc>
            </a:pPr>
            <a:r>
              <a:rPr sz="750" b="1">
                <a:solidFill>
                  <a:srgbClr val="A8B8C8"/>
                </a:solidFill>
                <a:latin typeface="Aptos"/>
              </a:rPr>
              <a:t>ĐỖ TRỌNG MINH · APPLIED AI ENGINEER</a:t>
            </a:r>
          </a:p>
        </p:txBody>
      </p:sp>
      <p:sp>
        <p:nvSpPr>
          <p:cNvPr id="54" name="TextBox 53"/>
          <p:cNvSpPr txBox="1"/>
          <p:nvPr/>
        </p:nvSpPr>
        <p:spPr>
          <a:xfrm>
            <a:off x="8412480" y="6556248"/>
            <a:ext cx="3273552" cy="164592"/>
          </a:xfrm>
          <a:prstGeom prst="rect">
            <a:avLst/>
          </a:prstGeom>
          <a:noFill/>
        </p:spPr>
        <p:txBody>
          <a:bodyPr wrap="none" lIns="0" rIns="0" tIns="0" bIns="0" anchor="t">
            <a:spAutoFit/>
          </a:bodyPr>
          <a:lstStyle/>
          <a:p>
            <a:pPr algn="r">
              <a:lnSpc>
                <a:spcPct val="100000"/>
              </a:lnSpc>
            </a:pPr>
            <a:r>
              <a:rPr sz="750" b="1">
                <a:solidFill>
                  <a:srgbClr val="A8B8C8"/>
                </a:solidFill>
                <a:latin typeface="Aptos"/>
              </a:rPr>
              <a:t>SPATIAL REASONING FOUNDATION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502920" cy="292608"/>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05</a:t>
            </a:r>
          </a:p>
        </p:txBody>
      </p:sp>
      <p:cxnSp>
        <p:nvCxnSpPr>
          <p:cNvPr id="4" name="Connector 3"/>
          <p:cNvCxnSpPr/>
          <p:nvPr/>
        </p:nvCxnSpPr>
        <p:spPr>
          <a:xfrm>
            <a:off x="1051560" y="502920"/>
            <a:ext cx="521208" cy="0"/>
          </a:xfrm>
          <a:prstGeom prst="line">
            <a:avLst/>
          </a:prstGeom>
          <a:ln w="19050">
            <a:solidFill>
              <a:srgbClr val="42D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82496" y="347472"/>
            <a:ext cx="4389120" cy="292608"/>
          </a:xfrm>
          <a:prstGeom prst="rect">
            <a:avLst/>
          </a:prstGeom>
          <a:noFill/>
        </p:spPr>
        <p:txBody>
          <a:bodyPr wrap="none" lIns="0" rIns="0" tIns="0" bIns="0" anchor="t">
            <a:spAutoFit/>
          </a:bodyPr>
          <a:lstStyle/>
          <a:p>
            <a:pPr algn="l">
              <a:lnSpc>
                <a:spcPct val="100000"/>
              </a:lnSpc>
            </a:pPr>
            <a:r>
              <a:rPr sz="1000" b="1">
                <a:solidFill>
                  <a:srgbClr val="A8B8C8"/>
                </a:solidFill>
                <a:latin typeface="Aptos"/>
              </a:rPr>
              <a:t>AEC PROBLEM-SOLVING FRAMEWORK</a:t>
            </a:r>
          </a:p>
        </p:txBody>
      </p:sp>
      <p:sp>
        <p:nvSpPr>
          <p:cNvPr id="6" name="TextBox 5"/>
          <p:cNvSpPr txBox="1"/>
          <p:nvPr/>
        </p:nvSpPr>
        <p:spPr>
          <a:xfrm>
            <a:off x="502920" y="749808"/>
            <a:ext cx="11109960" cy="566928"/>
          </a:xfrm>
          <a:prstGeom prst="rect">
            <a:avLst/>
          </a:prstGeom>
          <a:noFill/>
        </p:spPr>
        <p:txBody>
          <a:bodyPr wrap="none" lIns="0" rIns="0" tIns="0" bIns="0" anchor="t">
            <a:spAutoFit/>
          </a:bodyPr>
          <a:lstStyle/>
          <a:p>
            <a:pPr algn="l">
              <a:lnSpc>
                <a:spcPct val="100000"/>
              </a:lnSpc>
            </a:pPr>
            <a:r>
              <a:rPr sz="2800" b="1">
                <a:solidFill>
                  <a:srgbClr val="F6F8FB"/>
                </a:solidFill>
                <a:latin typeface="Aptos"/>
              </a:rPr>
              <a:t>Representation before model selection</a:t>
            </a:r>
          </a:p>
        </p:txBody>
      </p:sp>
      <p:sp>
        <p:nvSpPr>
          <p:cNvPr id="7" name="TextBox 6"/>
          <p:cNvSpPr txBox="1"/>
          <p:nvPr/>
        </p:nvSpPr>
        <p:spPr>
          <a:xfrm>
            <a:off x="521207" y="1307592"/>
            <a:ext cx="10789920" cy="329184"/>
          </a:xfrm>
          <a:prstGeom prst="rect">
            <a:avLst/>
          </a:prstGeom>
          <a:noFill/>
        </p:spPr>
        <p:txBody>
          <a:bodyPr wrap="none" lIns="0" rIns="0" tIns="0" bIns="0" anchor="t">
            <a:spAutoFit/>
          </a:bodyPr>
          <a:lstStyle/>
          <a:p>
            <a:pPr algn="l">
              <a:lnSpc>
                <a:spcPct val="100000"/>
              </a:lnSpc>
            </a:pPr>
            <a:r>
              <a:rPr sz="1100" b="0">
                <a:solidFill>
                  <a:srgbClr val="A8B8C8"/>
                </a:solidFill>
                <a:latin typeface="Aptos"/>
              </a:rPr>
              <a:t>A measurable path from domain need to editable output</a:t>
            </a:r>
          </a:p>
        </p:txBody>
      </p:sp>
      <p:sp>
        <p:nvSpPr>
          <p:cNvPr id="8" name="Rounded Rectangle 7"/>
          <p:cNvSpPr/>
          <p:nvPr/>
        </p:nvSpPr>
        <p:spPr>
          <a:xfrm>
            <a:off x="530352" y="1773936"/>
            <a:ext cx="1499616" cy="667512"/>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 y="1947672"/>
            <a:ext cx="338328" cy="201168"/>
          </a:xfrm>
          <a:prstGeom prst="rect">
            <a:avLst/>
          </a:prstGeom>
          <a:noFill/>
        </p:spPr>
        <p:txBody>
          <a:bodyPr wrap="none" lIns="0" rIns="0" tIns="0" bIns="0" anchor="t">
            <a:spAutoFit/>
          </a:bodyPr>
          <a:lstStyle/>
          <a:p>
            <a:pPr algn="l">
              <a:lnSpc>
                <a:spcPct val="100000"/>
              </a:lnSpc>
            </a:pPr>
            <a:r>
              <a:rPr sz="900" b="1">
                <a:solidFill>
                  <a:srgbClr val="42D3E8"/>
                </a:solidFill>
                <a:latin typeface="Aptos"/>
              </a:rPr>
              <a:t>01</a:t>
            </a:r>
          </a:p>
        </p:txBody>
      </p:sp>
      <p:sp>
        <p:nvSpPr>
          <p:cNvPr id="10" name="TextBox 9"/>
          <p:cNvSpPr txBox="1"/>
          <p:nvPr/>
        </p:nvSpPr>
        <p:spPr>
          <a:xfrm>
            <a:off x="987552" y="1911095"/>
            <a:ext cx="91440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Problem</a:t>
            </a:r>
          </a:p>
        </p:txBody>
      </p:sp>
      <p:sp>
        <p:nvSpPr>
          <p:cNvPr id="11" name="Rounded Rectangle 10"/>
          <p:cNvSpPr/>
          <p:nvPr/>
        </p:nvSpPr>
        <p:spPr>
          <a:xfrm>
            <a:off x="2432304" y="1773936"/>
            <a:ext cx="1499616" cy="667512"/>
          </a:xfrm>
          <a:prstGeom prst="roundRect">
            <a:avLst/>
          </a:prstGeom>
          <a:solidFill>
            <a:srgbClr val="12263A"/>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32888" y="1947672"/>
            <a:ext cx="338328" cy="201168"/>
          </a:xfrm>
          <a:prstGeom prst="rect">
            <a:avLst/>
          </a:prstGeom>
          <a:noFill/>
        </p:spPr>
        <p:txBody>
          <a:bodyPr wrap="none" lIns="0" rIns="0" tIns="0" bIns="0" anchor="t">
            <a:spAutoFit/>
          </a:bodyPr>
          <a:lstStyle/>
          <a:p>
            <a:pPr algn="l">
              <a:lnSpc>
                <a:spcPct val="100000"/>
              </a:lnSpc>
            </a:pPr>
            <a:r>
              <a:rPr sz="900" b="1">
                <a:solidFill>
                  <a:srgbClr val="B7F34A"/>
                </a:solidFill>
                <a:latin typeface="Aptos"/>
              </a:rPr>
              <a:t>02</a:t>
            </a:r>
          </a:p>
        </p:txBody>
      </p:sp>
      <p:sp>
        <p:nvSpPr>
          <p:cNvPr id="13" name="TextBox 12"/>
          <p:cNvSpPr txBox="1"/>
          <p:nvPr/>
        </p:nvSpPr>
        <p:spPr>
          <a:xfrm>
            <a:off x="2889504" y="1911095"/>
            <a:ext cx="91440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Representation</a:t>
            </a:r>
          </a:p>
        </p:txBody>
      </p:sp>
      <p:sp>
        <p:nvSpPr>
          <p:cNvPr id="14" name="Rounded Rectangle 13"/>
          <p:cNvSpPr/>
          <p:nvPr/>
        </p:nvSpPr>
        <p:spPr>
          <a:xfrm>
            <a:off x="4334256" y="1773936"/>
            <a:ext cx="1499616" cy="667512"/>
          </a:xfrm>
          <a:prstGeom prst="roundRect">
            <a:avLst/>
          </a:prstGeom>
          <a:solidFill>
            <a:srgbClr val="12263A"/>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947672"/>
            <a:ext cx="338328" cy="201168"/>
          </a:xfrm>
          <a:prstGeom prst="rect">
            <a:avLst/>
          </a:prstGeom>
          <a:noFill/>
        </p:spPr>
        <p:txBody>
          <a:bodyPr wrap="none" lIns="0" rIns="0" tIns="0" bIns="0" anchor="t">
            <a:spAutoFit/>
          </a:bodyPr>
          <a:lstStyle/>
          <a:p>
            <a:pPr algn="l">
              <a:lnSpc>
                <a:spcPct val="100000"/>
              </a:lnSpc>
            </a:pPr>
            <a:r>
              <a:rPr sz="900" b="1">
                <a:solidFill>
                  <a:srgbClr val="FFB65C"/>
                </a:solidFill>
                <a:latin typeface="Aptos"/>
              </a:rPr>
              <a:t>03</a:t>
            </a:r>
          </a:p>
        </p:txBody>
      </p:sp>
      <p:sp>
        <p:nvSpPr>
          <p:cNvPr id="16" name="TextBox 15"/>
          <p:cNvSpPr txBox="1"/>
          <p:nvPr/>
        </p:nvSpPr>
        <p:spPr>
          <a:xfrm>
            <a:off x="4791456" y="1911095"/>
            <a:ext cx="91440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Baseline</a:t>
            </a:r>
          </a:p>
        </p:txBody>
      </p:sp>
      <p:sp>
        <p:nvSpPr>
          <p:cNvPr id="17" name="Rounded Rectangle 16"/>
          <p:cNvSpPr/>
          <p:nvPr/>
        </p:nvSpPr>
        <p:spPr>
          <a:xfrm>
            <a:off x="6236208" y="1773936"/>
            <a:ext cx="1499616" cy="667512"/>
          </a:xfrm>
          <a:prstGeom prst="roundRect">
            <a:avLst/>
          </a:prstGeom>
          <a:solidFill>
            <a:srgbClr val="12263A"/>
          </a:solidFill>
          <a:ln w="12700">
            <a:solidFill>
              <a:srgbClr val="FF72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1947672"/>
            <a:ext cx="338328" cy="201168"/>
          </a:xfrm>
          <a:prstGeom prst="rect">
            <a:avLst/>
          </a:prstGeom>
          <a:noFill/>
        </p:spPr>
        <p:txBody>
          <a:bodyPr wrap="none" lIns="0" rIns="0" tIns="0" bIns="0" anchor="t">
            <a:spAutoFit/>
          </a:bodyPr>
          <a:lstStyle/>
          <a:p>
            <a:pPr algn="l">
              <a:lnSpc>
                <a:spcPct val="100000"/>
              </a:lnSpc>
            </a:pPr>
            <a:r>
              <a:rPr sz="900" b="1">
                <a:solidFill>
                  <a:srgbClr val="FF7272"/>
                </a:solidFill>
                <a:latin typeface="Aptos"/>
              </a:rPr>
              <a:t>04</a:t>
            </a:r>
          </a:p>
        </p:txBody>
      </p:sp>
      <p:sp>
        <p:nvSpPr>
          <p:cNvPr id="19" name="TextBox 18"/>
          <p:cNvSpPr txBox="1"/>
          <p:nvPr/>
        </p:nvSpPr>
        <p:spPr>
          <a:xfrm>
            <a:off x="6693408" y="1911095"/>
            <a:ext cx="91440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Architecture</a:t>
            </a:r>
          </a:p>
        </p:txBody>
      </p:sp>
      <p:sp>
        <p:nvSpPr>
          <p:cNvPr id="20" name="Rounded Rectangle 19"/>
          <p:cNvSpPr/>
          <p:nvPr/>
        </p:nvSpPr>
        <p:spPr>
          <a:xfrm>
            <a:off x="8138160" y="1773936"/>
            <a:ext cx="1499616" cy="667512"/>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1947672"/>
            <a:ext cx="338328" cy="201168"/>
          </a:xfrm>
          <a:prstGeom prst="rect">
            <a:avLst/>
          </a:prstGeom>
          <a:noFill/>
        </p:spPr>
        <p:txBody>
          <a:bodyPr wrap="none" lIns="0" rIns="0" tIns="0" bIns="0" anchor="t">
            <a:spAutoFit/>
          </a:bodyPr>
          <a:lstStyle/>
          <a:p>
            <a:pPr algn="l">
              <a:lnSpc>
                <a:spcPct val="100000"/>
              </a:lnSpc>
            </a:pPr>
            <a:r>
              <a:rPr sz="900" b="1">
                <a:solidFill>
                  <a:srgbClr val="42D3E8"/>
                </a:solidFill>
                <a:latin typeface="Aptos"/>
              </a:rPr>
              <a:t>05</a:t>
            </a:r>
          </a:p>
        </p:txBody>
      </p:sp>
      <p:sp>
        <p:nvSpPr>
          <p:cNvPr id="22" name="TextBox 21"/>
          <p:cNvSpPr txBox="1"/>
          <p:nvPr/>
        </p:nvSpPr>
        <p:spPr>
          <a:xfrm>
            <a:off x="8595360" y="1911095"/>
            <a:ext cx="91440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Evaluation</a:t>
            </a:r>
          </a:p>
        </p:txBody>
      </p:sp>
      <p:sp>
        <p:nvSpPr>
          <p:cNvPr id="23" name="Rounded Rectangle 22"/>
          <p:cNvSpPr/>
          <p:nvPr/>
        </p:nvSpPr>
        <p:spPr>
          <a:xfrm>
            <a:off x="10040112" y="1773936"/>
            <a:ext cx="1499616" cy="667512"/>
          </a:xfrm>
          <a:prstGeom prst="roundRect">
            <a:avLst/>
          </a:prstGeom>
          <a:solidFill>
            <a:srgbClr val="12263A"/>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140696" y="1947672"/>
            <a:ext cx="338328" cy="201168"/>
          </a:xfrm>
          <a:prstGeom prst="rect">
            <a:avLst/>
          </a:prstGeom>
          <a:noFill/>
        </p:spPr>
        <p:txBody>
          <a:bodyPr wrap="none" lIns="0" rIns="0" tIns="0" bIns="0" anchor="t">
            <a:spAutoFit/>
          </a:bodyPr>
          <a:lstStyle/>
          <a:p>
            <a:pPr algn="l">
              <a:lnSpc>
                <a:spcPct val="100000"/>
              </a:lnSpc>
            </a:pPr>
            <a:r>
              <a:rPr sz="900" b="1">
                <a:solidFill>
                  <a:srgbClr val="B7F34A"/>
                </a:solidFill>
                <a:latin typeface="Aptos"/>
              </a:rPr>
              <a:t>06</a:t>
            </a:r>
          </a:p>
        </p:txBody>
      </p:sp>
      <p:sp>
        <p:nvSpPr>
          <p:cNvPr id="25" name="TextBox 24"/>
          <p:cNvSpPr txBox="1"/>
          <p:nvPr/>
        </p:nvSpPr>
        <p:spPr>
          <a:xfrm>
            <a:off x="10497312" y="1911095"/>
            <a:ext cx="91440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Expert loop</a:t>
            </a:r>
          </a:p>
        </p:txBody>
      </p:sp>
      <p:sp>
        <p:nvSpPr>
          <p:cNvPr id="26" name="Rounded Rectangle 25"/>
          <p:cNvSpPr/>
          <p:nvPr/>
        </p:nvSpPr>
        <p:spPr>
          <a:xfrm>
            <a:off x="530352" y="2715768"/>
            <a:ext cx="3401568" cy="3374136"/>
          </a:xfrm>
          <a:prstGeom prst="roundRect">
            <a:avLst/>
          </a:prstGeom>
          <a:solidFill>
            <a:srgbClr val="12263A"/>
          </a:solidFill>
          <a:ln w="12700">
            <a:solidFill>
              <a:srgbClr val="2641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2999232"/>
            <a:ext cx="2377440" cy="228600"/>
          </a:xfrm>
          <a:prstGeom prst="rect">
            <a:avLst/>
          </a:prstGeom>
          <a:noFill/>
        </p:spPr>
        <p:txBody>
          <a:bodyPr wrap="none" lIns="0" rIns="0" tIns="0" bIns="0" anchor="t">
            <a:spAutoFit/>
          </a:bodyPr>
          <a:lstStyle/>
          <a:p>
            <a:pPr algn="l">
              <a:lnSpc>
                <a:spcPct val="100000"/>
              </a:lnSpc>
            </a:pPr>
            <a:r>
              <a:rPr sz="950" b="1">
                <a:solidFill>
                  <a:srgbClr val="42D3E8"/>
                </a:solidFill>
                <a:latin typeface="Aptos"/>
              </a:rPr>
              <a:t>DEFINE THE DECISION</a:t>
            </a:r>
          </a:p>
        </p:txBody>
      </p:sp>
      <p:sp>
        <p:nvSpPr>
          <p:cNvPr id="28" name="TextBox 27"/>
          <p:cNvSpPr txBox="1"/>
          <p:nvPr/>
        </p:nvSpPr>
        <p:spPr>
          <a:xfrm>
            <a:off x="822960" y="3401568"/>
            <a:ext cx="310896" cy="201168"/>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01</a:t>
            </a:r>
          </a:p>
        </p:txBody>
      </p:sp>
      <p:sp>
        <p:nvSpPr>
          <p:cNvPr id="29" name="TextBox 28"/>
          <p:cNvSpPr txBox="1"/>
          <p:nvPr/>
        </p:nvSpPr>
        <p:spPr>
          <a:xfrm>
            <a:off x="1252728" y="3401568"/>
            <a:ext cx="2286000" cy="228600"/>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Who is the end user?</a:t>
            </a:r>
          </a:p>
        </p:txBody>
      </p:sp>
      <p:sp>
        <p:nvSpPr>
          <p:cNvPr id="30" name="TextBox 29"/>
          <p:cNvSpPr txBox="1"/>
          <p:nvPr/>
        </p:nvSpPr>
        <p:spPr>
          <a:xfrm>
            <a:off x="822960" y="3794760"/>
            <a:ext cx="310896" cy="201168"/>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02</a:t>
            </a:r>
          </a:p>
        </p:txBody>
      </p:sp>
      <p:sp>
        <p:nvSpPr>
          <p:cNvPr id="31" name="TextBox 30"/>
          <p:cNvSpPr txBox="1"/>
          <p:nvPr/>
        </p:nvSpPr>
        <p:spPr>
          <a:xfrm>
            <a:off x="1252728" y="3794760"/>
            <a:ext cx="2286000" cy="228600"/>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What decision does AI support?</a:t>
            </a:r>
          </a:p>
        </p:txBody>
      </p:sp>
      <p:sp>
        <p:nvSpPr>
          <p:cNvPr id="32" name="TextBox 31"/>
          <p:cNvSpPr txBox="1"/>
          <p:nvPr/>
        </p:nvSpPr>
        <p:spPr>
          <a:xfrm>
            <a:off x="822960" y="4187952"/>
            <a:ext cx="310896" cy="201168"/>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03</a:t>
            </a:r>
          </a:p>
        </p:txBody>
      </p:sp>
      <p:sp>
        <p:nvSpPr>
          <p:cNvPr id="33" name="TextBox 32"/>
          <p:cNvSpPr txBox="1"/>
          <p:nvPr/>
        </p:nvSpPr>
        <p:spPr>
          <a:xfrm>
            <a:off x="1252728" y="4187952"/>
            <a:ext cx="2286000" cy="228600"/>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What is the real input?</a:t>
            </a:r>
          </a:p>
        </p:txBody>
      </p:sp>
      <p:sp>
        <p:nvSpPr>
          <p:cNvPr id="34" name="TextBox 33"/>
          <p:cNvSpPr txBox="1"/>
          <p:nvPr/>
        </p:nvSpPr>
        <p:spPr>
          <a:xfrm>
            <a:off x="822960" y="4581144"/>
            <a:ext cx="310896" cy="201168"/>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04</a:t>
            </a:r>
          </a:p>
        </p:txBody>
      </p:sp>
      <p:sp>
        <p:nvSpPr>
          <p:cNvPr id="35" name="TextBox 34"/>
          <p:cNvSpPr txBox="1"/>
          <p:nvPr/>
        </p:nvSpPr>
        <p:spPr>
          <a:xfrm>
            <a:off x="1252728" y="4581144"/>
            <a:ext cx="2286000" cy="228600"/>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Must output remain editable?</a:t>
            </a:r>
          </a:p>
        </p:txBody>
      </p:sp>
      <p:sp>
        <p:nvSpPr>
          <p:cNvPr id="36" name="TextBox 35"/>
          <p:cNvSpPr txBox="1"/>
          <p:nvPr/>
        </p:nvSpPr>
        <p:spPr>
          <a:xfrm>
            <a:off x="822960" y="4974336"/>
            <a:ext cx="310896" cy="201168"/>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05</a:t>
            </a:r>
          </a:p>
        </p:txBody>
      </p:sp>
      <p:sp>
        <p:nvSpPr>
          <p:cNvPr id="37" name="TextBox 36"/>
          <p:cNvSpPr txBox="1"/>
          <p:nvPr/>
        </p:nvSpPr>
        <p:spPr>
          <a:xfrm>
            <a:off x="1252728" y="4974336"/>
            <a:ext cx="2286000" cy="228600"/>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Which constraints are mandatory?</a:t>
            </a:r>
          </a:p>
        </p:txBody>
      </p:sp>
      <p:sp>
        <p:nvSpPr>
          <p:cNvPr id="38" name="TextBox 37"/>
          <p:cNvSpPr txBox="1"/>
          <p:nvPr/>
        </p:nvSpPr>
        <p:spPr>
          <a:xfrm>
            <a:off x="822960" y="5367528"/>
            <a:ext cx="310896" cy="201168"/>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06</a:t>
            </a:r>
          </a:p>
        </p:txBody>
      </p:sp>
      <p:sp>
        <p:nvSpPr>
          <p:cNvPr id="39" name="TextBox 38"/>
          <p:cNvSpPr txBox="1"/>
          <p:nvPr/>
        </p:nvSpPr>
        <p:spPr>
          <a:xfrm>
            <a:off x="1252728" y="5367528"/>
            <a:ext cx="2286000" cy="228600"/>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Which errors are unacceptable?</a:t>
            </a:r>
          </a:p>
        </p:txBody>
      </p:sp>
      <p:sp>
        <p:nvSpPr>
          <p:cNvPr id="40" name="Rounded Rectangle 39"/>
          <p:cNvSpPr/>
          <p:nvPr/>
        </p:nvSpPr>
        <p:spPr>
          <a:xfrm>
            <a:off x="4178808" y="2715768"/>
            <a:ext cx="3730752" cy="3374136"/>
          </a:xfrm>
          <a:prstGeom prst="roundRect">
            <a:avLst/>
          </a:prstGeom>
          <a:solidFill>
            <a:srgbClr val="0D1C2E"/>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9704" y="2999232"/>
            <a:ext cx="2926080" cy="228600"/>
          </a:xfrm>
          <a:prstGeom prst="rect">
            <a:avLst/>
          </a:prstGeom>
          <a:noFill/>
        </p:spPr>
        <p:txBody>
          <a:bodyPr wrap="none" lIns="0" rIns="0" tIns="0" bIns="0" anchor="t">
            <a:spAutoFit/>
          </a:bodyPr>
          <a:lstStyle/>
          <a:p>
            <a:pPr algn="l">
              <a:lnSpc>
                <a:spcPct val="100000"/>
              </a:lnSpc>
            </a:pPr>
            <a:r>
              <a:rPr sz="950" b="1">
                <a:solidFill>
                  <a:srgbClr val="B7F34A"/>
                </a:solidFill>
                <a:latin typeface="Aptos"/>
              </a:rPr>
              <a:t>DOMAIN REPRESENTATION</a:t>
            </a:r>
          </a:p>
        </p:txBody>
      </p:sp>
      <p:sp>
        <p:nvSpPr>
          <p:cNvPr id="42" name="Rounded Rectangle 41"/>
          <p:cNvSpPr/>
          <p:nvPr/>
        </p:nvSpPr>
        <p:spPr>
          <a:xfrm>
            <a:off x="4526280" y="3374136"/>
            <a:ext cx="2980944" cy="283464"/>
          </a:xfrm>
          <a:prstGeom prst="roundRect">
            <a:avLst/>
          </a:prstGeom>
          <a:solidFill>
            <a:srgbClr val="183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17720" y="3410712"/>
            <a:ext cx="2788920" cy="182880"/>
          </a:xfrm>
          <a:prstGeom prst="rect">
            <a:avLst/>
          </a:prstGeom>
          <a:noFill/>
        </p:spPr>
        <p:txBody>
          <a:bodyPr wrap="none" lIns="0" rIns="0" tIns="0" bIns="0" anchor="t">
            <a:spAutoFit/>
          </a:bodyPr>
          <a:lstStyle/>
          <a:p>
            <a:pPr algn="ctr">
              <a:lnSpc>
                <a:spcPct val="100000"/>
              </a:lnSpc>
            </a:pPr>
            <a:r>
              <a:rPr sz="950" b="1">
                <a:solidFill>
                  <a:srgbClr val="F6F8FB"/>
                </a:solidFill>
                <a:latin typeface="Aptos"/>
              </a:rPr>
              <a:t>Image / CAD / BIM</a:t>
            </a:r>
          </a:p>
        </p:txBody>
      </p:sp>
      <p:sp>
        <p:nvSpPr>
          <p:cNvPr id="44" name="TextBox 43"/>
          <p:cNvSpPr txBox="1"/>
          <p:nvPr/>
        </p:nvSpPr>
        <p:spPr>
          <a:xfrm>
            <a:off x="5879592" y="3675887"/>
            <a:ext cx="274320" cy="164592"/>
          </a:xfrm>
          <a:prstGeom prst="rect">
            <a:avLst/>
          </a:prstGeom>
          <a:noFill/>
        </p:spPr>
        <p:txBody>
          <a:bodyPr wrap="none" lIns="0" rIns="0" tIns="0" bIns="0" anchor="t">
            <a:spAutoFit/>
          </a:bodyPr>
          <a:lstStyle/>
          <a:p>
            <a:pPr algn="ctr">
              <a:lnSpc>
                <a:spcPct val="100000"/>
              </a:lnSpc>
            </a:pPr>
            <a:r>
              <a:rPr sz="900" b="1">
                <a:solidFill>
                  <a:srgbClr val="42D3E8"/>
                </a:solidFill>
                <a:latin typeface="Aptos"/>
              </a:rPr>
              <a:t>↓</a:t>
            </a:r>
          </a:p>
        </p:txBody>
      </p:sp>
      <p:sp>
        <p:nvSpPr>
          <p:cNvPr id="45" name="Rounded Rectangle 44"/>
          <p:cNvSpPr/>
          <p:nvPr/>
        </p:nvSpPr>
        <p:spPr>
          <a:xfrm>
            <a:off x="4526280" y="3767328"/>
            <a:ext cx="2980944" cy="283464"/>
          </a:xfrm>
          <a:prstGeom prst="roundRect">
            <a:avLst/>
          </a:prstGeom>
          <a:solidFill>
            <a:srgbClr val="183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17720" y="3803904"/>
            <a:ext cx="2788920" cy="182880"/>
          </a:xfrm>
          <a:prstGeom prst="rect">
            <a:avLst/>
          </a:prstGeom>
          <a:noFill/>
        </p:spPr>
        <p:txBody>
          <a:bodyPr wrap="none" lIns="0" rIns="0" tIns="0" bIns="0" anchor="t">
            <a:spAutoFit/>
          </a:bodyPr>
          <a:lstStyle/>
          <a:p>
            <a:pPr algn="ctr">
              <a:lnSpc>
                <a:spcPct val="100000"/>
              </a:lnSpc>
            </a:pPr>
            <a:r>
              <a:rPr sz="950" b="0">
                <a:solidFill>
                  <a:srgbClr val="A8B8C8"/>
                </a:solidFill>
                <a:latin typeface="Aptos"/>
              </a:rPr>
              <a:t>objects</a:t>
            </a:r>
          </a:p>
        </p:txBody>
      </p:sp>
      <p:sp>
        <p:nvSpPr>
          <p:cNvPr id="47" name="TextBox 46"/>
          <p:cNvSpPr txBox="1"/>
          <p:nvPr/>
        </p:nvSpPr>
        <p:spPr>
          <a:xfrm>
            <a:off x="5879592" y="4069080"/>
            <a:ext cx="274320" cy="164592"/>
          </a:xfrm>
          <a:prstGeom prst="rect">
            <a:avLst/>
          </a:prstGeom>
          <a:noFill/>
        </p:spPr>
        <p:txBody>
          <a:bodyPr wrap="none" lIns="0" rIns="0" tIns="0" bIns="0" anchor="t">
            <a:spAutoFit/>
          </a:bodyPr>
          <a:lstStyle/>
          <a:p>
            <a:pPr algn="ctr">
              <a:lnSpc>
                <a:spcPct val="100000"/>
              </a:lnSpc>
            </a:pPr>
            <a:r>
              <a:rPr sz="900" b="1">
                <a:solidFill>
                  <a:srgbClr val="42D3E8"/>
                </a:solidFill>
                <a:latin typeface="Aptos"/>
              </a:rPr>
              <a:t>↓</a:t>
            </a:r>
          </a:p>
        </p:txBody>
      </p:sp>
      <p:sp>
        <p:nvSpPr>
          <p:cNvPr id="48" name="Rounded Rectangle 47"/>
          <p:cNvSpPr/>
          <p:nvPr/>
        </p:nvSpPr>
        <p:spPr>
          <a:xfrm>
            <a:off x="4526280" y="4160520"/>
            <a:ext cx="2980944" cy="283464"/>
          </a:xfrm>
          <a:prstGeom prst="roundRect">
            <a:avLst/>
          </a:prstGeom>
          <a:solidFill>
            <a:srgbClr val="183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17720" y="4197096"/>
            <a:ext cx="2788920" cy="182880"/>
          </a:xfrm>
          <a:prstGeom prst="rect">
            <a:avLst/>
          </a:prstGeom>
          <a:noFill/>
        </p:spPr>
        <p:txBody>
          <a:bodyPr wrap="none" lIns="0" rIns="0" tIns="0" bIns="0" anchor="t">
            <a:spAutoFit/>
          </a:bodyPr>
          <a:lstStyle/>
          <a:p>
            <a:pPr algn="ctr">
              <a:lnSpc>
                <a:spcPct val="100000"/>
              </a:lnSpc>
            </a:pPr>
            <a:r>
              <a:rPr sz="950" b="0">
                <a:solidFill>
                  <a:srgbClr val="A8B8C8"/>
                </a:solidFill>
                <a:latin typeface="Aptos"/>
              </a:rPr>
              <a:t>geometry</a:t>
            </a:r>
          </a:p>
        </p:txBody>
      </p:sp>
      <p:sp>
        <p:nvSpPr>
          <p:cNvPr id="50" name="TextBox 49"/>
          <p:cNvSpPr txBox="1"/>
          <p:nvPr/>
        </p:nvSpPr>
        <p:spPr>
          <a:xfrm>
            <a:off x="5879592" y="4462272"/>
            <a:ext cx="274320" cy="164592"/>
          </a:xfrm>
          <a:prstGeom prst="rect">
            <a:avLst/>
          </a:prstGeom>
          <a:noFill/>
        </p:spPr>
        <p:txBody>
          <a:bodyPr wrap="none" lIns="0" rIns="0" tIns="0" bIns="0" anchor="t">
            <a:spAutoFit/>
          </a:bodyPr>
          <a:lstStyle/>
          <a:p>
            <a:pPr algn="ctr">
              <a:lnSpc>
                <a:spcPct val="100000"/>
              </a:lnSpc>
            </a:pPr>
            <a:r>
              <a:rPr sz="900" b="1">
                <a:solidFill>
                  <a:srgbClr val="42D3E8"/>
                </a:solidFill>
                <a:latin typeface="Aptos"/>
              </a:rPr>
              <a:t>↓</a:t>
            </a:r>
          </a:p>
        </p:txBody>
      </p:sp>
      <p:sp>
        <p:nvSpPr>
          <p:cNvPr id="51" name="Rounded Rectangle 50"/>
          <p:cNvSpPr/>
          <p:nvPr/>
        </p:nvSpPr>
        <p:spPr>
          <a:xfrm>
            <a:off x="4526280" y="4553712"/>
            <a:ext cx="2980944" cy="283464"/>
          </a:xfrm>
          <a:prstGeom prst="roundRect">
            <a:avLst/>
          </a:prstGeom>
          <a:solidFill>
            <a:srgbClr val="183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17720" y="4590288"/>
            <a:ext cx="2788920" cy="182880"/>
          </a:xfrm>
          <a:prstGeom prst="rect">
            <a:avLst/>
          </a:prstGeom>
          <a:noFill/>
        </p:spPr>
        <p:txBody>
          <a:bodyPr wrap="none" lIns="0" rIns="0" tIns="0" bIns="0" anchor="t">
            <a:spAutoFit/>
          </a:bodyPr>
          <a:lstStyle/>
          <a:p>
            <a:pPr algn="ctr">
              <a:lnSpc>
                <a:spcPct val="100000"/>
              </a:lnSpc>
            </a:pPr>
            <a:r>
              <a:rPr sz="950" b="0">
                <a:solidFill>
                  <a:srgbClr val="A8B8C8"/>
                </a:solidFill>
                <a:latin typeface="Aptos"/>
              </a:rPr>
              <a:t>attributes</a:t>
            </a:r>
          </a:p>
        </p:txBody>
      </p:sp>
      <p:sp>
        <p:nvSpPr>
          <p:cNvPr id="53" name="TextBox 52"/>
          <p:cNvSpPr txBox="1"/>
          <p:nvPr/>
        </p:nvSpPr>
        <p:spPr>
          <a:xfrm>
            <a:off x="5879592" y="4855464"/>
            <a:ext cx="274320" cy="164592"/>
          </a:xfrm>
          <a:prstGeom prst="rect">
            <a:avLst/>
          </a:prstGeom>
          <a:noFill/>
        </p:spPr>
        <p:txBody>
          <a:bodyPr wrap="none" lIns="0" rIns="0" tIns="0" bIns="0" anchor="t">
            <a:spAutoFit/>
          </a:bodyPr>
          <a:lstStyle/>
          <a:p>
            <a:pPr algn="ctr">
              <a:lnSpc>
                <a:spcPct val="100000"/>
              </a:lnSpc>
            </a:pPr>
            <a:r>
              <a:rPr sz="900" b="1">
                <a:solidFill>
                  <a:srgbClr val="42D3E8"/>
                </a:solidFill>
                <a:latin typeface="Aptos"/>
              </a:rPr>
              <a:t>↓</a:t>
            </a:r>
          </a:p>
        </p:txBody>
      </p:sp>
      <p:sp>
        <p:nvSpPr>
          <p:cNvPr id="54" name="Rounded Rectangle 53"/>
          <p:cNvSpPr/>
          <p:nvPr/>
        </p:nvSpPr>
        <p:spPr>
          <a:xfrm>
            <a:off x="4526280" y="4946904"/>
            <a:ext cx="2980944" cy="283464"/>
          </a:xfrm>
          <a:prstGeom prst="roundRect">
            <a:avLst/>
          </a:prstGeom>
          <a:solidFill>
            <a:srgbClr val="183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617720" y="4983480"/>
            <a:ext cx="2788920" cy="182880"/>
          </a:xfrm>
          <a:prstGeom prst="rect">
            <a:avLst/>
          </a:prstGeom>
          <a:noFill/>
        </p:spPr>
        <p:txBody>
          <a:bodyPr wrap="none" lIns="0" rIns="0" tIns="0" bIns="0" anchor="t">
            <a:spAutoFit/>
          </a:bodyPr>
          <a:lstStyle/>
          <a:p>
            <a:pPr algn="ctr">
              <a:lnSpc>
                <a:spcPct val="100000"/>
              </a:lnSpc>
            </a:pPr>
            <a:r>
              <a:rPr sz="950" b="0">
                <a:solidFill>
                  <a:srgbClr val="A8B8C8"/>
                </a:solidFill>
                <a:latin typeface="Aptos"/>
              </a:rPr>
              <a:t>spatial relationships</a:t>
            </a:r>
          </a:p>
        </p:txBody>
      </p:sp>
      <p:sp>
        <p:nvSpPr>
          <p:cNvPr id="56" name="TextBox 55"/>
          <p:cNvSpPr txBox="1"/>
          <p:nvPr/>
        </p:nvSpPr>
        <p:spPr>
          <a:xfrm>
            <a:off x="5879592" y="5248656"/>
            <a:ext cx="274320" cy="164592"/>
          </a:xfrm>
          <a:prstGeom prst="rect">
            <a:avLst/>
          </a:prstGeom>
          <a:noFill/>
        </p:spPr>
        <p:txBody>
          <a:bodyPr wrap="none" lIns="0" rIns="0" tIns="0" bIns="0" anchor="t">
            <a:spAutoFit/>
          </a:bodyPr>
          <a:lstStyle/>
          <a:p>
            <a:pPr algn="ctr">
              <a:lnSpc>
                <a:spcPct val="100000"/>
              </a:lnSpc>
            </a:pPr>
            <a:r>
              <a:rPr sz="900" b="1">
                <a:solidFill>
                  <a:srgbClr val="42D3E8"/>
                </a:solidFill>
                <a:latin typeface="Aptos"/>
              </a:rPr>
              <a:t>↓</a:t>
            </a:r>
          </a:p>
        </p:txBody>
      </p:sp>
      <p:sp>
        <p:nvSpPr>
          <p:cNvPr id="57" name="Rounded Rectangle 56"/>
          <p:cNvSpPr/>
          <p:nvPr/>
        </p:nvSpPr>
        <p:spPr>
          <a:xfrm>
            <a:off x="4526280" y="5340096"/>
            <a:ext cx="2980944" cy="283464"/>
          </a:xfrm>
          <a:prstGeom prst="roundRect">
            <a:avLst/>
          </a:prstGeom>
          <a:solidFill>
            <a:srgbClr val="1830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17720" y="5376672"/>
            <a:ext cx="2788920" cy="182880"/>
          </a:xfrm>
          <a:prstGeom prst="rect">
            <a:avLst/>
          </a:prstGeom>
          <a:noFill/>
        </p:spPr>
        <p:txBody>
          <a:bodyPr wrap="none" lIns="0" rIns="0" tIns="0" bIns="0" anchor="t">
            <a:spAutoFit/>
          </a:bodyPr>
          <a:lstStyle/>
          <a:p>
            <a:pPr algn="ctr">
              <a:lnSpc>
                <a:spcPct val="100000"/>
              </a:lnSpc>
            </a:pPr>
            <a:r>
              <a:rPr sz="950" b="0">
                <a:solidFill>
                  <a:srgbClr val="A8B8C8"/>
                </a:solidFill>
                <a:latin typeface="Aptos"/>
              </a:rPr>
              <a:t>constraints</a:t>
            </a:r>
          </a:p>
        </p:txBody>
      </p:sp>
      <p:sp>
        <p:nvSpPr>
          <p:cNvPr id="59" name="Rounded Rectangle 58"/>
          <p:cNvSpPr/>
          <p:nvPr/>
        </p:nvSpPr>
        <p:spPr>
          <a:xfrm>
            <a:off x="8156448" y="2715768"/>
            <a:ext cx="3529584" cy="3374136"/>
          </a:xfrm>
          <a:prstGeom prst="roundRect">
            <a:avLst/>
          </a:prstGeom>
          <a:solidFill>
            <a:srgbClr val="12263A"/>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58200" y="2999232"/>
            <a:ext cx="2743200" cy="228600"/>
          </a:xfrm>
          <a:prstGeom prst="rect">
            <a:avLst/>
          </a:prstGeom>
          <a:noFill/>
        </p:spPr>
        <p:txBody>
          <a:bodyPr wrap="none" lIns="0" rIns="0" tIns="0" bIns="0" anchor="t">
            <a:spAutoFit/>
          </a:bodyPr>
          <a:lstStyle/>
          <a:p>
            <a:pPr algn="l">
              <a:lnSpc>
                <a:spcPct val="100000"/>
              </a:lnSpc>
            </a:pPr>
            <a:r>
              <a:rPr sz="950" b="1">
                <a:solidFill>
                  <a:srgbClr val="FFB65C"/>
                </a:solidFill>
                <a:latin typeface="Aptos"/>
              </a:rPr>
              <a:t>MEASURABLE BASELINE</a:t>
            </a:r>
          </a:p>
        </p:txBody>
      </p:sp>
      <p:sp>
        <p:nvSpPr>
          <p:cNvPr id="61" name="Rounded Rectangle 60"/>
          <p:cNvSpPr/>
          <p:nvPr/>
        </p:nvSpPr>
        <p:spPr>
          <a:xfrm>
            <a:off x="8467344" y="3392424"/>
            <a:ext cx="338328" cy="338328"/>
          </a:xfrm>
          <a:prstGeom prst="roundRect">
            <a:avLst/>
          </a:prstGeom>
          <a:solidFill>
            <a:srgbClr val="FFB65C"/>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67344" y="3392424"/>
            <a:ext cx="338328" cy="338328"/>
          </a:xfrm>
          <a:prstGeom prst="rect">
            <a:avLst/>
          </a:prstGeom>
          <a:noFill/>
        </p:spPr>
        <p:txBody>
          <a:bodyPr wrap="none" lIns="0" rIns="0" tIns="0" bIns="0" anchor="ctr">
            <a:spAutoFit/>
          </a:bodyPr>
          <a:lstStyle/>
          <a:p>
            <a:pPr algn="ctr">
              <a:lnSpc>
                <a:spcPct val="100000"/>
              </a:lnSpc>
            </a:pPr>
            <a:r>
              <a:rPr sz="800" b="1">
                <a:solidFill>
                  <a:srgbClr val="081321"/>
                </a:solidFill>
                <a:latin typeface="Aptos"/>
              </a:rPr>
              <a:t>1</a:t>
            </a:r>
          </a:p>
        </p:txBody>
      </p:sp>
      <p:sp>
        <p:nvSpPr>
          <p:cNvPr id="63" name="TextBox 62"/>
          <p:cNvSpPr txBox="1"/>
          <p:nvPr/>
        </p:nvSpPr>
        <p:spPr>
          <a:xfrm>
            <a:off x="8979408" y="3456432"/>
            <a:ext cx="2194560" cy="201168"/>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Input parser</a:t>
            </a:r>
          </a:p>
        </p:txBody>
      </p:sp>
      <p:sp>
        <p:nvSpPr>
          <p:cNvPr id="64" name="Rounded Rectangle 63"/>
          <p:cNvSpPr/>
          <p:nvPr/>
        </p:nvSpPr>
        <p:spPr>
          <a:xfrm>
            <a:off x="8467344" y="3858768"/>
            <a:ext cx="338328" cy="338328"/>
          </a:xfrm>
          <a:prstGeom prst="roundRect">
            <a:avLst/>
          </a:prstGeom>
          <a:solidFill>
            <a:srgbClr val="0D1C2E"/>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467344" y="3858768"/>
            <a:ext cx="338328" cy="338328"/>
          </a:xfrm>
          <a:prstGeom prst="rect">
            <a:avLst/>
          </a:prstGeom>
          <a:noFill/>
        </p:spPr>
        <p:txBody>
          <a:bodyPr wrap="none" lIns="0" rIns="0" tIns="0" bIns="0" anchor="ctr">
            <a:spAutoFit/>
          </a:bodyPr>
          <a:lstStyle/>
          <a:p>
            <a:pPr algn="ctr">
              <a:lnSpc>
                <a:spcPct val="100000"/>
              </a:lnSpc>
            </a:pPr>
            <a:r>
              <a:rPr sz="800" b="1">
                <a:solidFill>
                  <a:srgbClr val="FFB65C"/>
                </a:solidFill>
                <a:latin typeface="Aptos"/>
              </a:rPr>
              <a:t>2</a:t>
            </a:r>
          </a:p>
        </p:txBody>
      </p:sp>
      <p:sp>
        <p:nvSpPr>
          <p:cNvPr id="66" name="TextBox 65"/>
          <p:cNvSpPr txBox="1"/>
          <p:nvPr/>
        </p:nvSpPr>
        <p:spPr>
          <a:xfrm>
            <a:off x="8979408" y="3922776"/>
            <a:ext cx="21945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Structured IR</a:t>
            </a:r>
          </a:p>
        </p:txBody>
      </p:sp>
      <p:sp>
        <p:nvSpPr>
          <p:cNvPr id="67" name="Rounded Rectangle 66"/>
          <p:cNvSpPr/>
          <p:nvPr/>
        </p:nvSpPr>
        <p:spPr>
          <a:xfrm>
            <a:off x="8467344" y="4325112"/>
            <a:ext cx="338328" cy="338328"/>
          </a:xfrm>
          <a:prstGeom prst="roundRect">
            <a:avLst/>
          </a:prstGeom>
          <a:solidFill>
            <a:srgbClr val="0D1C2E"/>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467344" y="4325112"/>
            <a:ext cx="338328" cy="338328"/>
          </a:xfrm>
          <a:prstGeom prst="rect">
            <a:avLst/>
          </a:prstGeom>
          <a:noFill/>
        </p:spPr>
        <p:txBody>
          <a:bodyPr wrap="none" lIns="0" rIns="0" tIns="0" bIns="0" anchor="ctr">
            <a:spAutoFit/>
          </a:bodyPr>
          <a:lstStyle/>
          <a:p>
            <a:pPr algn="ctr">
              <a:lnSpc>
                <a:spcPct val="100000"/>
              </a:lnSpc>
            </a:pPr>
            <a:r>
              <a:rPr sz="800" b="1">
                <a:solidFill>
                  <a:srgbClr val="FFB65C"/>
                </a:solidFill>
                <a:latin typeface="Aptos"/>
              </a:rPr>
              <a:t>3</a:t>
            </a:r>
          </a:p>
        </p:txBody>
      </p:sp>
      <p:sp>
        <p:nvSpPr>
          <p:cNvPr id="69" name="TextBox 68"/>
          <p:cNvSpPr txBox="1"/>
          <p:nvPr/>
        </p:nvSpPr>
        <p:spPr>
          <a:xfrm>
            <a:off x="8979408" y="4389120"/>
            <a:ext cx="2194560" cy="201168"/>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Rule generator</a:t>
            </a:r>
          </a:p>
        </p:txBody>
      </p:sp>
      <p:sp>
        <p:nvSpPr>
          <p:cNvPr id="70" name="Rounded Rectangle 69"/>
          <p:cNvSpPr/>
          <p:nvPr/>
        </p:nvSpPr>
        <p:spPr>
          <a:xfrm>
            <a:off x="8467344" y="4791455"/>
            <a:ext cx="338328" cy="338328"/>
          </a:xfrm>
          <a:prstGeom prst="roundRect">
            <a:avLst/>
          </a:prstGeom>
          <a:solidFill>
            <a:srgbClr val="0D1C2E"/>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67344" y="4791455"/>
            <a:ext cx="338328" cy="338328"/>
          </a:xfrm>
          <a:prstGeom prst="rect">
            <a:avLst/>
          </a:prstGeom>
          <a:noFill/>
        </p:spPr>
        <p:txBody>
          <a:bodyPr wrap="none" lIns="0" rIns="0" tIns="0" bIns="0" anchor="ctr">
            <a:spAutoFit/>
          </a:bodyPr>
          <a:lstStyle/>
          <a:p>
            <a:pPr algn="ctr">
              <a:lnSpc>
                <a:spcPct val="100000"/>
              </a:lnSpc>
            </a:pPr>
            <a:r>
              <a:rPr sz="800" b="1">
                <a:solidFill>
                  <a:srgbClr val="FFB65C"/>
                </a:solidFill>
                <a:latin typeface="Aptos"/>
              </a:rPr>
              <a:t>4</a:t>
            </a:r>
          </a:p>
        </p:txBody>
      </p:sp>
      <p:sp>
        <p:nvSpPr>
          <p:cNvPr id="72" name="TextBox 71"/>
          <p:cNvSpPr txBox="1"/>
          <p:nvPr/>
        </p:nvSpPr>
        <p:spPr>
          <a:xfrm>
            <a:off x="8979408" y="4855464"/>
            <a:ext cx="2194560" cy="201168"/>
          </a:xfrm>
          <a:prstGeom prst="rect">
            <a:avLst/>
          </a:prstGeom>
          <a:noFill/>
        </p:spPr>
        <p:txBody>
          <a:bodyPr wrap="none" lIns="0" rIns="0" tIns="0" bIns="0" anchor="t">
            <a:spAutoFit/>
          </a:bodyPr>
          <a:lstStyle/>
          <a:p>
            <a:pPr algn="l">
              <a:lnSpc>
                <a:spcPct val="100000"/>
              </a:lnSpc>
            </a:pPr>
            <a:r>
              <a:rPr sz="1050" b="1">
                <a:solidFill>
                  <a:srgbClr val="F6F8FB"/>
                </a:solidFill>
                <a:latin typeface="Aptos"/>
              </a:rPr>
              <a:t>Constraint validator</a:t>
            </a:r>
          </a:p>
        </p:txBody>
      </p:sp>
      <p:sp>
        <p:nvSpPr>
          <p:cNvPr id="73" name="Rounded Rectangle 72"/>
          <p:cNvSpPr/>
          <p:nvPr/>
        </p:nvSpPr>
        <p:spPr>
          <a:xfrm>
            <a:off x="8467344" y="5257800"/>
            <a:ext cx="338328" cy="338328"/>
          </a:xfrm>
          <a:prstGeom prst="roundRect">
            <a:avLst/>
          </a:prstGeom>
          <a:solidFill>
            <a:srgbClr val="0D1C2E"/>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67344" y="5257800"/>
            <a:ext cx="338328" cy="338328"/>
          </a:xfrm>
          <a:prstGeom prst="rect">
            <a:avLst/>
          </a:prstGeom>
          <a:noFill/>
        </p:spPr>
        <p:txBody>
          <a:bodyPr wrap="none" lIns="0" rIns="0" tIns="0" bIns="0" anchor="ctr">
            <a:spAutoFit/>
          </a:bodyPr>
          <a:lstStyle/>
          <a:p>
            <a:pPr algn="ctr">
              <a:lnSpc>
                <a:spcPct val="100000"/>
              </a:lnSpc>
            </a:pPr>
            <a:r>
              <a:rPr sz="800" b="1">
                <a:solidFill>
                  <a:srgbClr val="FFB65C"/>
                </a:solidFill>
                <a:latin typeface="Aptos"/>
              </a:rPr>
              <a:t>5</a:t>
            </a:r>
          </a:p>
        </p:txBody>
      </p:sp>
      <p:sp>
        <p:nvSpPr>
          <p:cNvPr id="75" name="TextBox 74"/>
          <p:cNvSpPr txBox="1"/>
          <p:nvPr/>
        </p:nvSpPr>
        <p:spPr>
          <a:xfrm>
            <a:off x="8979408" y="5321808"/>
            <a:ext cx="2194560" cy="201168"/>
          </a:xfrm>
          <a:prstGeom prst="rect">
            <a:avLst/>
          </a:prstGeom>
          <a:noFill/>
        </p:spPr>
        <p:txBody>
          <a:bodyPr wrap="none" lIns="0" rIns="0" tIns="0" bIns="0" anchor="t">
            <a:spAutoFit/>
          </a:bodyPr>
          <a:lstStyle/>
          <a:p>
            <a:pPr algn="l">
              <a:lnSpc>
                <a:spcPct val="100000"/>
              </a:lnSpc>
            </a:pPr>
            <a:r>
              <a:rPr sz="1050" b="0">
                <a:solidFill>
                  <a:srgbClr val="F6F8FB"/>
                </a:solidFill>
                <a:latin typeface="Aptos"/>
              </a:rPr>
              <a:t>Editable output</a:t>
            </a:r>
          </a:p>
        </p:txBody>
      </p:sp>
      <p:sp>
        <p:nvSpPr>
          <p:cNvPr id="76" name="TextBox 75"/>
          <p:cNvSpPr txBox="1"/>
          <p:nvPr/>
        </p:nvSpPr>
        <p:spPr>
          <a:xfrm>
            <a:off x="8467344" y="5696712"/>
            <a:ext cx="2743200" cy="210312"/>
          </a:xfrm>
          <a:prstGeom prst="rect">
            <a:avLst/>
          </a:prstGeom>
          <a:noFill/>
        </p:spPr>
        <p:txBody>
          <a:bodyPr wrap="none" lIns="0" rIns="0" tIns="0" bIns="0" anchor="t">
            <a:spAutoFit/>
          </a:bodyPr>
          <a:lstStyle/>
          <a:p>
            <a:pPr algn="l">
              <a:lnSpc>
                <a:spcPct val="100000"/>
              </a:lnSpc>
            </a:pPr>
            <a:r>
              <a:rPr sz="850" b="0">
                <a:solidFill>
                  <a:srgbClr val="A8B8C8"/>
                </a:solidFill>
                <a:latin typeface="Aptos"/>
              </a:rPr>
              <a:t>Model complexity follows measured gaps — not fashion.</a:t>
            </a:r>
          </a:p>
        </p:txBody>
      </p:sp>
      <p:cxnSp>
        <p:nvCxnSpPr>
          <p:cNvPr id="77" name="Connector 76"/>
          <p:cNvCxnSpPr/>
          <p:nvPr/>
        </p:nvCxnSpPr>
        <p:spPr>
          <a:xfrm>
            <a:off x="502920" y="6492240"/>
            <a:ext cx="11183112" cy="0"/>
          </a:xfrm>
          <a:prstGeom prst="line">
            <a:avLst/>
          </a:prstGeom>
          <a:ln w="10160">
            <a:solidFill>
              <a:srgbClr val="264158"/>
            </a:solidFill>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502920" y="6556248"/>
            <a:ext cx="4023360" cy="164592"/>
          </a:xfrm>
          <a:prstGeom prst="rect">
            <a:avLst/>
          </a:prstGeom>
          <a:noFill/>
        </p:spPr>
        <p:txBody>
          <a:bodyPr wrap="none" lIns="0" rIns="0" tIns="0" bIns="0" anchor="t">
            <a:spAutoFit/>
          </a:bodyPr>
          <a:lstStyle/>
          <a:p>
            <a:pPr algn="l">
              <a:lnSpc>
                <a:spcPct val="100000"/>
              </a:lnSpc>
            </a:pPr>
            <a:r>
              <a:rPr sz="750" b="1">
                <a:solidFill>
                  <a:srgbClr val="A8B8C8"/>
                </a:solidFill>
                <a:latin typeface="Aptos"/>
              </a:rPr>
              <a:t>ĐỖ TRỌNG MINH · APPLIED AI ENGINEER</a:t>
            </a:r>
          </a:p>
        </p:txBody>
      </p:sp>
      <p:sp>
        <p:nvSpPr>
          <p:cNvPr id="79" name="TextBox 78"/>
          <p:cNvSpPr txBox="1"/>
          <p:nvPr/>
        </p:nvSpPr>
        <p:spPr>
          <a:xfrm>
            <a:off x="8412480" y="6556248"/>
            <a:ext cx="3273552" cy="164592"/>
          </a:xfrm>
          <a:prstGeom prst="rect">
            <a:avLst/>
          </a:prstGeom>
          <a:noFill/>
        </p:spPr>
        <p:txBody>
          <a:bodyPr wrap="none" lIns="0" rIns="0" tIns="0" bIns="0" anchor="t">
            <a:spAutoFit/>
          </a:bodyPr>
          <a:lstStyle/>
          <a:p>
            <a:pPr algn="r">
              <a:lnSpc>
                <a:spcPct val="100000"/>
              </a:lnSpc>
            </a:pPr>
            <a:r>
              <a:rPr sz="750" b="1">
                <a:solidFill>
                  <a:srgbClr val="A8B8C8"/>
                </a:solidFill>
                <a:latin typeface="Aptos"/>
              </a:rPr>
              <a:t>HOW I WOULD ENTER AEC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13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47472"/>
            <a:ext cx="502920" cy="292608"/>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06</a:t>
            </a:r>
          </a:p>
        </p:txBody>
      </p:sp>
      <p:cxnSp>
        <p:nvCxnSpPr>
          <p:cNvPr id="4" name="Connector 3"/>
          <p:cNvCxnSpPr/>
          <p:nvPr/>
        </p:nvCxnSpPr>
        <p:spPr>
          <a:xfrm>
            <a:off x="1051560" y="502920"/>
            <a:ext cx="521208" cy="0"/>
          </a:xfrm>
          <a:prstGeom prst="line">
            <a:avLst/>
          </a:prstGeom>
          <a:ln w="19050">
            <a:solidFill>
              <a:srgbClr val="42D3E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682496" y="347472"/>
            <a:ext cx="4389120" cy="292608"/>
          </a:xfrm>
          <a:prstGeom prst="rect">
            <a:avLst/>
          </a:prstGeom>
          <a:noFill/>
        </p:spPr>
        <p:txBody>
          <a:bodyPr wrap="none" lIns="0" rIns="0" tIns="0" bIns="0" anchor="t">
            <a:spAutoFit/>
          </a:bodyPr>
          <a:lstStyle/>
          <a:p>
            <a:pPr algn="l">
              <a:lnSpc>
                <a:spcPct val="100000"/>
              </a:lnSpc>
            </a:pPr>
            <a:r>
              <a:rPr sz="1000" b="1">
                <a:solidFill>
                  <a:srgbClr val="A8B8C8"/>
                </a:solidFill>
                <a:latin typeface="Aptos"/>
              </a:rPr>
              <a:t>ROLE FIT &amp; EXECUTION</a:t>
            </a:r>
          </a:p>
        </p:txBody>
      </p:sp>
      <p:sp>
        <p:nvSpPr>
          <p:cNvPr id="6" name="TextBox 5"/>
          <p:cNvSpPr txBox="1"/>
          <p:nvPr/>
        </p:nvSpPr>
        <p:spPr>
          <a:xfrm>
            <a:off x="502920" y="749808"/>
            <a:ext cx="11109960" cy="566928"/>
          </a:xfrm>
          <a:prstGeom prst="rect">
            <a:avLst/>
          </a:prstGeom>
          <a:noFill/>
        </p:spPr>
        <p:txBody>
          <a:bodyPr wrap="none" lIns="0" rIns="0" tIns="0" bIns="0" anchor="t">
            <a:spAutoFit/>
          </a:bodyPr>
          <a:lstStyle/>
          <a:p>
            <a:pPr algn="l">
              <a:lnSpc>
                <a:spcPct val="100000"/>
              </a:lnSpc>
            </a:pPr>
            <a:r>
              <a:rPr sz="2800" b="1">
                <a:solidFill>
                  <a:srgbClr val="F6F8FB"/>
                </a:solidFill>
                <a:latin typeface="Aptos"/>
              </a:rPr>
              <a:t>Why this role — and my first 90 days</a:t>
            </a:r>
          </a:p>
        </p:txBody>
      </p:sp>
      <p:sp>
        <p:nvSpPr>
          <p:cNvPr id="7" name="TextBox 6"/>
          <p:cNvSpPr txBox="1"/>
          <p:nvPr/>
        </p:nvSpPr>
        <p:spPr>
          <a:xfrm>
            <a:off x="521207" y="1307592"/>
            <a:ext cx="10789920" cy="329184"/>
          </a:xfrm>
          <a:prstGeom prst="rect">
            <a:avLst/>
          </a:prstGeom>
          <a:noFill/>
        </p:spPr>
        <p:txBody>
          <a:bodyPr wrap="none" lIns="0" rIns="0" tIns="0" bIns="0" anchor="t">
            <a:spAutoFit/>
          </a:bodyPr>
          <a:lstStyle/>
          <a:p>
            <a:pPr algn="l">
              <a:lnSpc>
                <a:spcPct val="100000"/>
              </a:lnSpc>
            </a:pPr>
            <a:r>
              <a:rPr sz="1100" b="0">
                <a:solidFill>
                  <a:srgbClr val="A8B8C8"/>
                </a:solidFill>
                <a:latin typeface="Aptos"/>
              </a:rPr>
              <a:t>Join through the workflow; earn model complexity with evidence</a:t>
            </a:r>
          </a:p>
        </p:txBody>
      </p:sp>
      <p:sp>
        <p:nvSpPr>
          <p:cNvPr id="8" name="Rounded Rectangle 7"/>
          <p:cNvSpPr/>
          <p:nvPr/>
        </p:nvSpPr>
        <p:spPr>
          <a:xfrm>
            <a:off x="530352" y="1847088"/>
            <a:ext cx="3703320" cy="4160520"/>
          </a:xfrm>
          <a:prstGeom prst="roundRect">
            <a:avLst/>
          </a:prstGeom>
          <a:solidFill>
            <a:srgbClr val="12263A"/>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167128"/>
            <a:ext cx="2286000" cy="228600"/>
          </a:xfrm>
          <a:prstGeom prst="rect">
            <a:avLst/>
          </a:prstGeom>
          <a:noFill/>
        </p:spPr>
        <p:txBody>
          <a:bodyPr wrap="none" lIns="0" rIns="0" tIns="0" bIns="0" anchor="t">
            <a:spAutoFit/>
          </a:bodyPr>
          <a:lstStyle/>
          <a:p>
            <a:pPr algn="l">
              <a:lnSpc>
                <a:spcPct val="100000"/>
              </a:lnSpc>
            </a:pPr>
            <a:r>
              <a:rPr sz="1000" b="1">
                <a:solidFill>
                  <a:srgbClr val="42D3E8"/>
                </a:solidFill>
                <a:latin typeface="Aptos"/>
              </a:rPr>
              <a:t>WHY THIS ROLE</a:t>
            </a:r>
          </a:p>
        </p:txBody>
      </p:sp>
      <p:sp>
        <p:nvSpPr>
          <p:cNvPr id="10" name="TextBox 9"/>
          <p:cNvSpPr txBox="1"/>
          <p:nvPr/>
        </p:nvSpPr>
        <p:spPr>
          <a:xfrm>
            <a:off x="850392" y="2606040"/>
            <a:ext cx="2852928" cy="1261872"/>
          </a:xfrm>
          <a:prstGeom prst="rect">
            <a:avLst/>
          </a:prstGeom>
          <a:noFill/>
        </p:spPr>
        <p:txBody>
          <a:bodyPr wrap="none" lIns="0" rIns="0" tIns="0" bIns="0" anchor="t">
            <a:spAutoFit/>
          </a:bodyPr>
          <a:lstStyle/>
          <a:p>
            <a:pPr algn="l">
              <a:lnSpc>
                <a:spcPct val="100000"/>
              </a:lnSpc>
            </a:pPr>
            <a:r>
              <a:rPr sz="2300" b="1">
                <a:solidFill>
                  <a:srgbClr val="F6F8FB"/>
                </a:solidFill>
                <a:latin typeface="Aptos"/>
              </a:rPr>
              <a:t>AI connected to
domain tools — not
just conversation.</a:t>
            </a:r>
          </a:p>
        </p:txBody>
      </p:sp>
      <p:sp>
        <p:nvSpPr>
          <p:cNvPr id="11" name="TextBox 10"/>
          <p:cNvSpPr txBox="1"/>
          <p:nvPr/>
        </p:nvSpPr>
        <p:spPr>
          <a:xfrm>
            <a:off x="850392" y="4169663"/>
            <a:ext cx="2770632" cy="868680"/>
          </a:xfrm>
          <a:prstGeom prst="rect">
            <a:avLst/>
          </a:prstGeom>
          <a:noFill/>
        </p:spPr>
        <p:txBody>
          <a:bodyPr wrap="none" lIns="0" rIns="0" tIns="0" bIns="0" anchor="t">
            <a:spAutoFit/>
          </a:bodyPr>
          <a:lstStyle/>
          <a:p>
            <a:pPr algn="l">
              <a:lnSpc>
                <a:spcPct val="100000"/>
              </a:lnSpc>
            </a:pPr>
            <a:r>
              <a:rPr sz="1100" b="0">
                <a:solidFill>
                  <a:srgbClr val="A8B8C8"/>
                </a:solidFill>
                <a:latin typeface="Aptos"/>
              </a:rPr>
              <a:t>Image-to-script · agentic workflows
generative geometry · validation
software engineering</a:t>
            </a:r>
          </a:p>
        </p:txBody>
      </p:sp>
      <p:sp>
        <p:nvSpPr>
          <p:cNvPr id="12" name="Rounded Rectangle 11"/>
          <p:cNvSpPr/>
          <p:nvPr/>
        </p:nvSpPr>
        <p:spPr>
          <a:xfrm>
            <a:off x="850392" y="5358384"/>
            <a:ext cx="685800" cy="310896"/>
          </a:xfrm>
          <a:prstGeom prst="roundRect">
            <a:avLst/>
          </a:prstGeom>
          <a:solidFill>
            <a:srgbClr val="0D1C2E"/>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5376672"/>
            <a:ext cx="685800" cy="228600"/>
          </a:xfrm>
          <a:prstGeom prst="rect">
            <a:avLst/>
          </a:prstGeom>
          <a:noFill/>
        </p:spPr>
        <p:txBody>
          <a:bodyPr wrap="none" lIns="0" rIns="0" tIns="0" bIns="0" anchor="ctr">
            <a:spAutoFit/>
          </a:bodyPr>
          <a:lstStyle/>
          <a:p>
            <a:pPr algn="ctr">
              <a:lnSpc>
                <a:spcPct val="100000"/>
              </a:lnSpc>
            </a:pPr>
            <a:r>
              <a:rPr sz="900" b="1">
                <a:solidFill>
                  <a:srgbClr val="42D3E8"/>
                </a:solidFill>
                <a:latin typeface="Aptos"/>
              </a:rPr>
              <a:t>MODEL</a:t>
            </a:r>
          </a:p>
        </p:txBody>
      </p:sp>
      <p:sp>
        <p:nvSpPr>
          <p:cNvPr id="14" name="Rounded Rectangle 13"/>
          <p:cNvSpPr/>
          <p:nvPr/>
        </p:nvSpPr>
        <p:spPr>
          <a:xfrm>
            <a:off x="1655064" y="5358384"/>
            <a:ext cx="658368" cy="310896"/>
          </a:xfrm>
          <a:prstGeom prst="roundRect">
            <a:avLst/>
          </a:prstGeom>
          <a:solidFill>
            <a:srgbClr val="0D1C2E"/>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55064" y="5376672"/>
            <a:ext cx="658368" cy="228600"/>
          </a:xfrm>
          <a:prstGeom prst="rect">
            <a:avLst/>
          </a:prstGeom>
          <a:noFill/>
        </p:spPr>
        <p:txBody>
          <a:bodyPr wrap="none" lIns="0" rIns="0" tIns="0" bIns="0" anchor="ctr">
            <a:spAutoFit/>
          </a:bodyPr>
          <a:lstStyle/>
          <a:p>
            <a:pPr algn="ctr">
              <a:lnSpc>
                <a:spcPct val="100000"/>
              </a:lnSpc>
            </a:pPr>
            <a:r>
              <a:rPr sz="900" b="1">
                <a:solidFill>
                  <a:srgbClr val="B7F34A"/>
                </a:solidFill>
                <a:latin typeface="Aptos"/>
              </a:rPr>
              <a:t>DATA</a:t>
            </a:r>
          </a:p>
        </p:txBody>
      </p:sp>
      <p:sp>
        <p:nvSpPr>
          <p:cNvPr id="16" name="Rounded Rectangle 15"/>
          <p:cNvSpPr/>
          <p:nvPr/>
        </p:nvSpPr>
        <p:spPr>
          <a:xfrm>
            <a:off x="2432304" y="5358384"/>
            <a:ext cx="713232" cy="310896"/>
          </a:xfrm>
          <a:prstGeom prst="roundRect">
            <a:avLst/>
          </a:prstGeom>
          <a:solidFill>
            <a:srgbClr val="0D1C2E"/>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32304" y="5376672"/>
            <a:ext cx="713232" cy="228600"/>
          </a:xfrm>
          <a:prstGeom prst="rect">
            <a:avLst/>
          </a:prstGeom>
          <a:noFill/>
        </p:spPr>
        <p:txBody>
          <a:bodyPr wrap="none" lIns="0" rIns="0" tIns="0" bIns="0" anchor="ctr">
            <a:spAutoFit/>
          </a:bodyPr>
          <a:lstStyle/>
          <a:p>
            <a:pPr algn="ctr">
              <a:lnSpc>
                <a:spcPct val="100000"/>
              </a:lnSpc>
            </a:pPr>
            <a:r>
              <a:rPr sz="900" b="1">
                <a:solidFill>
                  <a:srgbClr val="FFB65C"/>
                </a:solidFill>
                <a:latin typeface="Aptos"/>
              </a:rPr>
              <a:t>RULES</a:t>
            </a:r>
          </a:p>
        </p:txBody>
      </p:sp>
      <p:sp>
        <p:nvSpPr>
          <p:cNvPr id="18" name="Rounded Rectangle 17"/>
          <p:cNvSpPr/>
          <p:nvPr/>
        </p:nvSpPr>
        <p:spPr>
          <a:xfrm>
            <a:off x="3264408" y="5358384"/>
            <a:ext cx="502920" cy="310896"/>
          </a:xfrm>
          <a:prstGeom prst="roundRect">
            <a:avLst/>
          </a:prstGeom>
          <a:solidFill>
            <a:srgbClr val="0D1C2E"/>
          </a:solidFill>
          <a:ln w="12700">
            <a:solidFill>
              <a:srgbClr val="FF72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4408" y="5376672"/>
            <a:ext cx="502920" cy="228600"/>
          </a:xfrm>
          <a:prstGeom prst="rect">
            <a:avLst/>
          </a:prstGeom>
          <a:noFill/>
        </p:spPr>
        <p:txBody>
          <a:bodyPr wrap="none" lIns="0" rIns="0" tIns="0" bIns="0" anchor="ctr">
            <a:spAutoFit/>
          </a:bodyPr>
          <a:lstStyle/>
          <a:p>
            <a:pPr algn="ctr">
              <a:lnSpc>
                <a:spcPct val="100000"/>
              </a:lnSpc>
            </a:pPr>
            <a:r>
              <a:rPr sz="900" b="1">
                <a:solidFill>
                  <a:srgbClr val="FF7272"/>
                </a:solidFill>
                <a:latin typeface="Aptos"/>
              </a:rPr>
              <a:t>UX</a:t>
            </a:r>
          </a:p>
        </p:txBody>
      </p:sp>
      <p:sp>
        <p:nvSpPr>
          <p:cNvPr id="20" name="Rounded Rectangle 19"/>
          <p:cNvSpPr/>
          <p:nvPr/>
        </p:nvSpPr>
        <p:spPr>
          <a:xfrm>
            <a:off x="4517136" y="1847088"/>
            <a:ext cx="2148840" cy="4160520"/>
          </a:xfrm>
          <a:prstGeom prst="roundRect">
            <a:avLst/>
          </a:prstGeom>
          <a:solidFill>
            <a:srgbClr val="0D1C2E"/>
          </a:solidFill>
          <a:ln w="12700">
            <a:solidFill>
              <a:srgbClr val="42D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45736" y="2130552"/>
            <a:ext cx="1280160" cy="384048"/>
          </a:xfrm>
          <a:prstGeom prst="rect">
            <a:avLst/>
          </a:prstGeom>
          <a:noFill/>
        </p:spPr>
        <p:txBody>
          <a:bodyPr wrap="none" lIns="0" rIns="0" tIns="0" bIns="0" anchor="t">
            <a:spAutoFit/>
          </a:bodyPr>
          <a:lstStyle/>
          <a:p>
            <a:pPr algn="l">
              <a:lnSpc>
                <a:spcPct val="100000"/>
              </a:lnSpc>
            </a:pPr>
            <a:r>
              <a:rPr sz="2100" b="1">
                <a:solidFill>
                  <a:srgbClr val="42D3E8"/>
                </a:solidFill>
                <a:latin typeface="Aptos"/>
              </a:rPr>
              <a:t>0—30</a:t>
            </a:r>
          </a:p>
        </p:txBody>
      </p:sp>
      <p:sp>
        <p:nvSpPr>
          <p:cNvPr id="22" name="TextBox 21"/>
          <p:cNvSpPr txBox="1"/>
          <p:nvPr/>
        </p:nvSpPr>
        <p:spPr>
          <a:xfrm>
            <a:off x="5925312" y="2267712"/>
            <a:ext cx="502920" cy="173736"/>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DAYS</a:t>
            </a:r>
          </a:p>
        </p:txBody>
      </p:sp>
      <p:sp>
        <p:nvSpPr>
          <p:cNvPr id="23" name="TextBox 22"/>
          <p:cNvSpPr txBox="1"/>
          <p:nvPr/>
        </p:nvSpPr>
        <p:spPr>
          <a:xfrm>
            <a:off x="4745736" y="2724912"/>
            <a:ext cx="169164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UNDERSTAND</a:t>
            </a:r>
          </a:p>
        </p:txBody>
      </p:sp>
      <p:cxnSp>
        <p:nvCxnSpPr>
          <p:cNvPr id="24" name="Connector 23"/>
          <p:cNvCxnSpPr/>
          <p:nvPr/>
        </p:nvCxnSpPr>
        <p:spPr>
          <a:xfrm>
            <a:off x="4745736" y="3090672"/>
            <a:ext cx="1673352" cy="0"/>
          </a:xfrm>
          <a:prstGeom prst="line">
            <a:avLst/>
          </a:prstGeom>
          <a:ln w="12700">
            <a:solidFill>
              <a:srgbClr val="264158"/>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745736" y="3364992"/>
            <a:ext cx="182880"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26" name="TextBox 25"/>
          <p:cNvSpPr txBox="1"/>
          <p:nvPr/>
        </p:nvSpPr>
        <p:spPr>
          <a:xfrm>
            <a:off x="4992624" y="3364992"/>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Architect workflow</a:t>
            </a:r>
          </a:p>
        </p:txBody>
      </p:sp>
      <p:sp>
        <p:nvSpPr>
          <p:cNvPr id="27" name="TextBox 26"/>
          <p:cNvSpPr txBox="1"/>
          <p:nvPr/>
        </p:nvSpPr>
        <p:spPr>
          <a:xfrm>
            <a:off x="4745736" y="3886200"/>
            <a:ext cx="182880"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28" name="TextBox 27"/>
          <p:cNvSpPr txBox="1"/>
          <p:nvPr/>
        </p:nvSpPr>
        <p:spPr>
          <a:xfrm>
            <a:off x="4992624" y="3886200"/>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Current data &amp; tools</a:t>
            </a:r>
          </a:p>
        </p:txBody>
      </p:sp>
      <p:sp>
        <p:nvSpPr>
          <p:cNvPr id="29" name="TextBox 28"/>
          <p:cNvSpPr txBox="1"/>
          <p:nvPr/>
        </p:nvSpPr>
        <p:spPr>
          <a:xfrm>
            <a:off x="4745736" y="4407408"/>
            <a:ext cx="182880"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30" name="TextBox 29"/>
          <p:cNvSpPr txBox="1"/>
          <p:nvPr/>
        </p:nvSpPr>
        <p:spPr>
          <a:xfrm>
            <a:off x="4992624" y="4407408"/>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One valuable use case</a:t>
            </a:r>
          </a:p>
        </p:txBody>
      </p:sp>
      <p:sp>
        <p:nvSpPr>
          <p:cNvPr id="31" name="TextBox 30"/>
          <p:cNvSpPr txBox="1"/>
          <p:nvPr/>
        </p:nvSpPr>
        <p:spPr>
          <a:xfrm>
            <a:off x="4745736" y="4928616"/>
            <a:ext cx="182880" cy="201168"/>
          </a:xfrm>
          <a:prstGeom prst="rect">
            <a:avLst/>
          </a:prstGeom>
          <a:noFill/>
        </p:spPr>
        <p:txBody>
          <a:bodyPr wrap="none" lIns="0" rIns="0" tIns="0" bIns="0" anchor="t">
            <a:spAutoFit/>
          </a:bodyPr>
          <a:lstStyle/>
          <a:p>
            <a:pPr algn="l">
              <a:lnSpc>
                <a:spcPct val="100000"/>
              </a:lnSpc>
            </a:pPr>
            <a:r>
              <a:rPr sz="1100" b="1">
                <a:solidFill>
                  <a:srgbClr val="42D3E8"/>
                </a:solidFill>
                <a:latin typeface="Aptos"/>
              </a:rPr>
              <a:t>•</a:t>
            </a:r>
          </a:p>
        </p:txBody>
      </p:sp>
      <p:sp>
        <p:nvSpPr>
          <p:cNvPr id="32" name="TextBox 31"/>
          <p:cNvSpPr txBox="1"/>
          <p:nvPr/>
        </p:nvSpPr>
        <p:spPr>
          <a:xfrm>
            <a:off x="4992624" y="4928616"/>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Initial evaluation set</a:t>
            </a:r>
          </a:p>
        </p:txBody>
      </p:sp>
      <p:sp>
        <p:nvSpPr>
          <p:cNvPr id="33" name="Rounded Rectangle 32"/>
          <p:cNvSpPr/>
          <p:nvPr/>
        </p:nvSpPr>
        <p:spPr>
          <a:xfrm>
            <a:off x="6903720" y="1847088"/>
            <a:ext cx="2148840" cy="4160520"/>
          </a:xfrm>
          <a:prstGeom prst="roundRect">
            <a:avLst/>
          </a:prstGeom>
          <a:solidFill>
            <a:srgbClr val="0D1C2E"/>
          </a:solidFill>
          <a:ln w="12700">
            <a:solidFill>
              <a:srgbClr val="B7F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0" y="2130552"/>
            <a:ext cx="1280160" cy="384048"/>
          </a:xfrm>
          <a:prstGeom prst="rect">
            <a:avLst/>
          </a:prstGeom>
          <a:noFill/>
        </p:spPr>
        <p:txBody>
          <a:bodyPr wrap="none" lIns="0" rIns="0" tIns="0" bIns="0" anchor="t">
            <a:spAutoFit/>
          </a:bodyPr>
          <a:lstStyle/>
          <a:p>
            <a:pPr algn="l">
              <a:lnSpc>
                <a:spcPct val="100000"/>
              </a:lnSpc>
            </a:pPr>
            <a:r>
              <a:rPr sz="2100" b="1">
                <a:solidFill>
                  <a:srgbClr val="B7F34A"/>
                </a:solidFill>
                <a:latin typeface="Aptos"/>
              </a:rPr>
              <a:t>31—60</a:t>
            </a:r>
          </a:p>
        </p:txBody>
      </p:sp>
      <p:sp>
        <p:nvSpPr>
          <p:cNvPr id="35" name="TextBox 34"/>
          <p:cNvSpPr txBox="1"/>
          <p:nvPr/>
        </p:nvSpPr>
        <p:spPr>
          <a:xfrm>
            <a:off x="8311896" y="2267712"/>
            <a:ext cx="502920" cy="173736"/>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DAYS</a:t>
            </a:r>
          </a:p>
        </p:txBody>
      </p:sp>
      <p:sp>
        <p:nvSpPr>
          <p:cNvPr id="36" name="TextBox 35"/>
          <p:cNvSpPr txBox="1"/>
          <p:nvPr/>
        </p:nvSpPr>
        <p:spPr>
          <a:xfrm>
            <a:off x="7132320" y="2724912"/>
            <a:ext cx="169164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BASELINE</a:t>
            </a:r>
          </a:p>
        </p:txBody>
      </p:sp>
      <p:cxnSp>
        <p:nvCxnSpPr>
          <p:cNvPr id="37" name="Connector 36"/>
          <p:cNvCxnSpPr/>
          <p:nvPr/>
        </p:nvCxnSpPr>
        <p:spPr>
          <a:xfrm>
            <a:off x="7132320" y="3090672"/>
            <a:ext cx="1673352" cy="0"/>
          </a:xfrm>
          <a:prstGeom prst="line">
            <a:avLst/>
          </a:prstGeom>
          <a:ln w="12700">
            <a:solidFill>
              <a:srgbClr val="26415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132320" y="3364992"/>
            <a:ext cx="182880" cy="201168"/>
          </a:xfrm>
          <a:prstGeom prst="rect">
            <a:avLst/>
          </a:prstGeom>
          <a:noFill/>
        </p:spPr>
        <p:txBody>
          <a:bodyPr wrap="none" lIns="0" rIns="0" tIns="0" bIns="0" anchor="t">
            <a:spAutoFit/>
          </a:bodyPr>
          <a:lstStyle/>
          <a:p>
            <a:pPr algn="l">
              <a:lnSpc>
                <a:spcPct val="100000"/>
              </a:lnSpc>
            </a:pPr>
            <a:r>
              <a:rPr sz="1100" b="1">
                <a:solidFill>
                  <a:srgbClr val="B7F34A"/>
                </a:solidFill>
                <a:latin typeface="Aptos"/>
              </a:rPr>
              <a:t>•</a:t>
            </a:r>
          </a:p>
        </p:txBody>
      </p:sp>
      <p:sp>
        <p:nvSpPr>
          <p:cNvPr id="39" name="TextBox 38"/>
          <p:cNvSpPr txBox="1"/>
          <p:nvPr/>
        </p:nvSpPr>
        <p:spPr>
          <a:xfrm>
            <a:off x="7379208" y="3364992"/>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End-to-end baseline</a:t>
            </a:r>
          </a:p>
        </p:txBody>
      </p:sp>
      <p:sp>
        <p:nvSpPr>
          <p:cNvPr id="40" name="TextBox 39"/>
          <p:cNvSpPr txBox="1"/>
          <p:nvPr/>
        </p:nvSpPr>
        <p:spPr>
          <a:xfrm>
            <a:off x="7132320" y="3886200"/>
            <a:ext cx="182880" cy="201168"/>
          </a:xfrm>
          <a:prstGeom prst="rect">
            <a:avLst/>
          </a:prstGeom>
          <a:noFill/>
        </p:spPr>
        <p:txBody>
          <a:bodyPr wrap="none" lIns="0" rIns="0" tIns="0" bIns="0" anchor="t">
            <a:spAutoFit/>
          </a:bodyPr>
          <a:lstStyle/>
          <a:p>
            <a:pPr algn="l">
              <a:lnSpc>
                <a:spcPct val="100000"/>
              </a:lnSpc>
            </a:pPr>
            <a:r>
              <a:rPr sz="1100" b="1">
                <a:solidFill>
                  <a:srgbClr val="B7F34A"/>
                </a:solidFill>
                <a:latin typeface="Aptos"/>
              </a:rPr>
              <a:t>•</a:t>
            </a:r>
          </a:p>
        </p:txBody>
      </p:sp>
      <p:sp>
        <p:nvSpPr>
          <p:cNvPr id="41" name="TextBox 40"/>
          <p:cNvSpPr txBox="1"/>
          <p:nvPr/>
        </p:nvSpPr>
        <p:spPr>
          <a:xfrm>
            <a:off x="7379208" y="3886200"/>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Logging &amp; versioning</a:t>
            </a:r>
          </a:p>
        </p:txBody>
      </p:sp>
      <p:sp>
        <p:nvSpPr>
          <p:cNvPr id="42" name="TextBox 41"/>
          <p:cNvSpPr txBox="1"/>
          <p:nvPr/>
        </p:nvSpPr>
        <p:spPr>
          <a:xfrm>
            <a:off x="7132320" y="4407408"/>
            <a:ext cx="182880" cy="201168"/>
          </a:xfrm>
          <a:prstGeom prst="rect">
            <a:avLst/>
          </a:prstGeom>
          <a:noFill/>
        </p:spPr>
        <p:txBody>
          <a:bodyPr wrap="none" lIns="0" rIns="0" tIns="0" bIns="0" anchor="t">
            <a:spAutoFit/>
          </a:bodyPr>
          <a:lstStyle/>
          <a:p>
            <a:pPr algn="l">
              <a:lnSpc>
                <a:spcPct val="100000"/>
              </a:lnSpc>
            </a:pPr>
            <a:r>
              <a:rPr sz="1100" b="1">
                <a:solidFill>
                  <a:srgbClr val="B7F34A"/>
                </a:solidFill>
                <a:latin typeface="Aptos"/>
              </a:rPr>
              <a:t>•</a:t>
            </a:r>
          </a:p>
        </p:txBody>
      </p:sp>
      <p:sp>
        <p:nvSpPr>
          <p:cNvPr id="43" name="TextBox 42"/>
          <p:cNvSpPr txBox="1"/>
          <p:nvPr/>
        </p:nvSpPr>
        <p:spPr>
          <a:xfrm>
            <a:off x="7379208" y="4407408"/>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Metrics</a:t>
            </a:r>
          </a:p>
        </p:txBody>
      </p:sp>
      <p:sp>
        <p:nvSpPr>
          <p:cNvPr id="44" name="TextBox 43"/>
          <p:cNvSpPr txBox="1"/>
          <p:nvPr/>
        </p:nvSpPr>
        <p:spPr>
          <a:xfrm>
            <a:off x="7132320" y="4928616"/>
            <a:ext cx="182880" cy="201168"/>
          </a:xfrm>
          <a:prstGeom prst="rect">
            <a:avLst/>
          </a:prstGeom>
          <a:noFill/>
        </p:spPr>
        <p:txBody>
          <a:bodyPr wrap="none" lIns="0" rIns="0" tIns="0" bIns="0" anchor="t">
            <a:spAutoFit/>
          </a:bodyPr>
          <a:lstStyle/>
          <a:p>
            <a:pPr algn="l">
              <a:lnSpc>
                <a:spcPct val="100000"/>
              </a:lnSpc>
            </a:pPr>
            <a:r>
              <a:rPr sz="1100" b="1">
                <a:solidFill>
                  <a:srgbClr val="B7F34A"/>
                </a:solidFill>
                <a:latin typeface="Aptos"/>
              </a:rPr>
              <a:t>•</a:t>
            </a:r>
          </a:p>
        </p:txBody>
      </p:sp>
      <p:sp>
        <p:nvSpPr>
          <p:cNvPr id="45" name="TextBox 44"/>
          <p:cNvSpPr txBox="1"/>
          <p:nvPr/>
        </p:nvSpPr>
        <p:spPr>
          <a:xfrm>
            <a:off x="7379208" y="4928616"/>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Internal feedback</a:t>
            </a:r>
          </a:p>
        </p:txBody>
      </p:sp>
      <p:sp>
        <p:nvSpPr>
          <p:cNvPr id="46" name="Rounded Rectangle 45"/>
          <p:cNvSpPr/>
          <p:nvPr/>
        </p:nvSpPr>
        <p:spPr>
          <a:xfrm>
            <a:off x="9290304" y="1847088"/>
            <a:ext cx="2148840" cy="4160520"/>
          </a:xfrm>
          <a:prstGeom prst="roundRect">
            <a:avLst/>
          </a:prstGeom>
          <a:solidFill>
            <a:srgbClr val="0D1C2E"/>
          </a:solidFill>
          <a:ln w="12700">
            <a:solidFill>
              <a:srgbClr val="FFB6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18904" y="2130552"/>
            <a:ext cx="1280160" cy="384048"/>
          </a:xfrm>
          <a:prstGeom prst="rect">
            <a:avLst/>
          </a:prstGeom>
          <a:noFill/>
        </p:spPr>
        <p:txBody>
          <a:bodyPr wrap="none" lIns="0" rIns="0" tIns="0" bIns="0" anchor="t">
            <a:spAutoFit/>
          </a:bodyPr>
          <a:lstStyle/>
          <a:p>
            <a:pPr algn="l">
              <a:lnSpc>
                <a:spcPct val="100000"/>
              </a:lnSpc>
            </a:pPr>
            <a:r>
              <a:rPr sz="2100" b="1">
                <a:solidFill>
                  <a:srgbClr val="FFB65C"/>
                </a:solidFill>
                <a:latin typeface="Aptos"/>
              </a:rPr>
              <a:t>61—90</a:t>
            </a:r>
          </a:p>
        </p:txBody>
      </p:sp>
      <p:sp>
        <p:nvSpPr>
          <p:cNvPr id="48" name="TextBox 47"/>
          <p:cNvSpPr txBox="1"/>
          <p:nvPr/>
        </p:nvSpPr>
        <p:spPr>
          <a:xfrm>
            <a:off x="10698480" y="2267712"/>
            <a:ext cx="502920" cy="173736"/>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DAYS</a:t>
            </a:r>
          </a:p>
        </p:txBody>
      </p:sp>
      <p:sp>
        <p:nvSpPr>
          <p:cNvPr id="49" name="TextBox 48"/>
          <p:cNvSpPr txBox="1"/>
          <p:nvPr/>
        </p:nvSpPr>
        <p:spPr>
          <a:xfrm>
            <a:off x="9518904" y="2724912"/>
            <a:ext cx="1691640" cy="237744"/>
          </a:xfrm>
          <a:prstGeom prst="rect">
            <a:avLst/>
          </a:prstGeom>
          <a:noFill/>
        </p:spPr>
        <p:txBody>
          <a:bodyPr wrap="none" lIns="0" rIns="0" tIns="0" bIns="0" anchor="t">
            <a:spAutoFit/>
          </a:bodyPr>
          <a:lstStyle/>
          <a:p>
            <a:pPr algn="l">
              <a:lnSpc>
                <a:spcPct val="100000"/>
              </a:lnSpc>
            </a:pPr>
            <a:r>
              <a:rPr sz="1000" b="1">
                <a:solidFill>
                  <a:srgbClr val="F6F8FB"/>
                </a:solidFill>
                <a:latin typeface="Aptos"/>
              </a:rPr>
              <a:t>VALIDATE</a:t>
            </a:r>
          </a:p>
        </p:txBody>
      </p:sp>
      <p:cxnSp>
        <p:nvCxnSpPr>
          <p:cNvPr id="50" name="Connector 49"/>
          <p:cNvCxnSpPr/>
          <p:nvPr/>
        </p:nvCxnSpPr>
        <p:spPr>
          <a:xfrm>
            <a:off x="9518904" y="3090672"/>
            <a:ext cx="1673352" cy="0"/>
          </a:xfrm>
          <a:prstGeom prst="line">
            <a:avLst/>
          </a:prstGeom>
          <a:ln w="12700">
            <a:solidFill>
              <a:srgbClr val="264158"/>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9518904" y="3364992"/>
            <a:ext cx="182880" cy="201168"/>
          </a:xfrm>
          <a:prstGeom prst="rect">
            <a:avLst/>
          </a:prstGeom>
          <a:noFill/>
        </p:spPr>
        <p:txBody>
          <a:bodyPr wrap="none" lIns="0" rIns="0" tIns="0" bIns="0" anchor="t">
            <a:spAutoFit/>
          </a:bodyPr>
          <a:lstStyle/>
          <a:p>
            <a:pPr algn="l">
              <a:lnSpc>
                <a:spcPct val="100000"/>
              </a:lnSpc>
            </a:pPr>
            <a:r>
              <a:rPr sz="1100" b="1">
                <a:solidFill>
                  <a:srgbClr val="FFB65C"/>
                </a:solidFill>
                <a:latin typeface="Aptos"/>
              </a:rPr>
              <a:t>•</a:t>
            </a:r>
          </a:p>
        </p:txBody>
      </p:sp>
      <p:sp>
        <p:nvSpPr>
          <p:cNvPr id="52" name="TextBox 51"/>
          <p:cNvSpPr txBox="1"/>
          <p:nvPr/>
        </p:nvSpPr>
        <p:spPr>
          <a:xfrm>
            <a:off x="9765792" y="3364992"/>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Compare model paths</a:t>
            </a:r>
          </a:p>
        </p:txBody>
      </p:sp>
      <p:sp>
        <p:nvSpPr>
          <p:cNvPr id="53" name="TextBox 52"/>
          <p:cNvSpPr txBox="1"/>
          <p:nvPr/>
        </p:nvSpPr>
        <p:spPr>
          <a:xfrm>
            <a:off x="9518904" y="3886200"/>
            <a:ext cx="182880" cy="201168"/>
          </a:xfrm>
          <a:prstGeom prst="rect">
            <a:avLst/>
          </a:prstGeom>
          <a:noFill/>
        </p:spPr>
        <p:txBody>
          <a:bodyPr wrap="none" lIns="0" rIns="0" tIns="0" bIns="0" anchor="t">
            <a:spAutoFit/>
          </a:bodyPr>
          <a:lstStyle/>
          <a:p>
            <a:pPr algn="l">
              <a:lnSpc>
                <a:spcPct val="100000"/>
              </a:lnSpc>
            </a:pPr>
            <a:r>
              <a:rPr sz="1100" b="1">
                <a:solidFill>
                  <a:srgbClr val="FFB65C"/>
                </a:solidFill>
                <a:latin typeface="Aptos"/>
              </a:rPr>
              <a:t>•</a:t>
            </a:r>
          </a:p>
        </p:txBody>
      </p:sp>
      <p:sp>
        <p:nvSpPr>
          <p:cNvPr id="54" name="TextBox 53"/>
          <p:cNvSpPr txBox="1"/>
          <p:nvPr/>
        </p:nvSpPr>
        <p:spPr>
          <a:xfrm>
            <a:off x="9765792" y="3886200"/>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Accuracy &amp; latency</a:t>
            </a:r>
          </a:p>
        </p:txBody>
      </p:sp>
      <p:sp>
        <p:nvSpPr>
          <p:cNvPr id="55" name="TextBox 54"/>
          <p:cNvSpPr txBox="1"/>
          <p:nvPr/>
        </p:nvSpPr>
        <p:spPr>
          <a:xfrm>
            <a:off x="9518904" y="4407408"/>
            <a:ext cx="182880" cy="201168"/>
          </a:xfrm>
          <a:prstGeom prst="rect">
            <a:avLst/>
          </a:prstGeom>
          <a:noFill/>
        </p:spPr>
        <p:txBody>
          <a:bodyPr wrap="none" lIns="0" rIns="0" tIns="0" bIns="0" anchor="t">
            <a:spAutoFit/>
          </a:bodyPr>
          <a:lstStyle/>
          <a:p>
            <a:pPr algn="l">
              <a:lnSpc>
                <a:spcPct val="100000"/>
              </a:lnSpc>
            </a:pPr>
            <a:r>
              <a:rPr sz="1100" b="1">
                <a:solidFill>
                  <a:srgbClr val="FFB65C"/>
                </a:solidFill>
                <a:latin typeface="Aptos"/>
              </a:rPr>
              <a:t>•</a:t>
            </a:r>
          </a:p>
        </p:txBody>
      </p:sp>
      <p:sp>
        <p:nvSpPr>
          <p:cNvPr id="56" name="TextBox 55"/>
          <p:cNvSpPr txBox="1"/>
          <p:nvPr/>
        </p:nvSpPr>
        <p:spPr>
          <a:xfrm>
            <a:off x="9765792" y="4407408"/>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Editability</a:t>
            </a:r>
          </a:p>
        </p:txBody>
      </p:sp>
      <p:sp>
        <p:nvSpPr>
          <p:cNvPr id="57" name="TextBox 56"/>
          <p:cNvSpPr txBox="1"/>
          <p:nvPr/>
        </p:nvSpPr>
        <p:spPr>
          <a:xfrm>
            <a:off x="9518904" y="4928616"/>
            <a:ext cx="182880" cy="201168"/>
          </a:xfrm>
          <a:prstGeom prst="rect">
            <a:avLst/>
          </a:prstGeom>
          <a:noFill/>
        </p:spPr>
        <p:txBody>
          <a:bodyPr wrap="none" lIns="0" rIns="0" tIns="0" bIns="0" anchor="t">
            <a:spAutoFit/>
          </a:bodyPr>
          <a:lstStyle/>
          <a:p>
            <a:pPr algn="l">
              <a:lnSpc>
                <a:spcPct val="100000"/>
              </a:lnSpc>
            </a:pPr>
            <a:r>
              <a:rPr sz="1100" b="1">
                <a:solidFill>
                  <a:srgbClr val="FFB65C"/>
                </a:solidFill>
                <a:latin typeface="Aptos"/>
              </a:rPr>
              <a:t>•</a:t>
            </a:r>
          </a:p>
        </p:txBody>
      </p:sp>
      <p:sp>
        <p:nvSpPr>
          <p:cNvPr id="58" name="TextBox 57"/>
          <p:cNvSpPr txBox="1"/>
          <p:nvPr/>
        </p:nvSpPr>
        <p:spPr>
          <a:xfrm>
            <a:off x="9765792" y="4928616"/>
            <a:ext cx="1408176" cy="347472"/>
          </a:xfrm>
          <a:prstGeom prst="rect">
            <a:avLst/>
          </a:prstGeom>
          <a:noFill/>
        </p:spPr>
        <p:txBody>
          <a:bodyPr wrap="none" lIns="0" rIns="0" tIns="0" bIns="0" anchor="t">
            <a:spAutoFit/>
          </a:bodyPr>
          <a:lstStyle/>
          <a:p>
            <a:pPr algn="l">
              <a:lnSpc>
                <a:spcPct val="100000"/>
              </a:lnSpc>
            </a:pPr>
            <a:r>
              <a:rPr sz="969" b="0">
                <a:solidFill>
                  <a:srgbClr val="F6F8FB"/>
                </a:solidFill>
                <a:latin typeface="Aptos"/>
              </a:rPr>
              <a:t>Prototype → tool roadmap</a:t>
            </a:r>
          </a:p>
        </p:txBody>
      </p:sp>
      <p:sp>
        <p:nvSpPr>
          <p:cNvPr id="59" name="TextBox 58"/>
          <p:cNvSpPr txBox="1"/>
          <p:nvPr/>
        </p:nvSpPr>
        <p:spPr>
          <a:xfrm>
            <a:off x="8641080" y="6153912"/>
            <a:ext cx="594360" cy="164592"/>
          </a:xfrm>
          <a:prstGeom prst="rect">
            <a:avLst/>
          </a:prstGeom>
          <a:noFill/>
        </p:spPr>
        <p:txBody>
          <a:bodyPr wrap="none" lIns="0" rIns="0" tIns="0" bIns="0" anchor="t">
            <a:spAutoFit/>
          </a:bodyPr>
          <a:lstStyle/>
          <a:p>
            <a:pPr algn="l">
              <a:lnSpc>
                <a:spcPct val="100000"/>
              </a:lnSpc>
            </a:pPr>
            <a:r>
              <a:rPr sz="800" b="1">
                <a:solidFill>
                  <a:srgbClr val="A8B8C8"/>
                </a:solidFill>
                <a:latin typeface="Aptos"/>
              </a:rPr>
              <a:t>Outcome</a:t>
            </a:r>
          </a:p>
        </p:txBody>
      </p:sp>
      <p:sp>
        <p:nvSpPr>
          <p:cNvPr id="60" name="TextBox 59"/>
          <p:cNvSpPr txBox="1"/>
          <p:nvPr/>
        </p:nvSpPr>
        <p:spPr>
          <a:xfrm>
            <a:off x="9253728" y="6126480"/>
            <a:ext cx="2432304" cy="210312"/>
          </a:xfrm>
          <a:prstGeom prst="rect">
            <a:avLst/>
          </a:prstGeom>
          <a:noFill/>
        </p:spPr>
        <p:txBody>
          <a:bodyPr wrap="none" lIns="0" rIns="0" tIns="0" bIns="0" anchor="t">
            <a:spAutoFit/>
          </a:bodyPr>
          <a:lstStyle/>
          <a:p>
            <a:pPr algn="r">
              <a:lnSpc>
                <a:spcPct val="100000"/>
              </a:lnSpc>
            </a:pPr>
            <a:r>
              <a:rPr sz="850" b="1">
                <a:solidFill>
                  <a:srgbClr val="F6F8FB"/>
                </a:solidFill>
                <a:latin typeface="Aptos"/>
              </a:rPr>
              <a:t>A measured roadmap from prototype to internal product</a:t>
            </a:r>
          </a:p>
        </p:txBody>
      </p:sp>
      <p:cxnSp>
        <p:nvCxnSpPr>
          <p:cNvPr id="61" name="Connector 60"/>
          <p:cNvCxnSpPr/>
          <p:nvPr/>
        </p:nvCxnSpPr>
        <p:spPr>
          <a:xfrm>
            <a:off x="502920" y="6492240"/>
            <a:ext cx="11183112" cy="0"/>
          </a:xfrm>
          <a:prstGeom prst="line">
            <a:avLst/>
          </a:prstGeom>
          <a:ln w="10160">
            <a:solidFill>
              <a:srgbClr val="26415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2920" y="6556248"/>
            <a:ext cx="4023360" cy="164592"/>
          </a:xfrm>
          <a:prstGeom prst="rect">
            <a:avLst/>
          </a:prstGeom>
          <a:noFill/>
        </p:spPr>
        <p:txBody>
          <a:bodyPr wrap="none" lIns="0" rIns="0" tIns="0" bIns="0" anchor="t">
            <a:spAutoFit/>
          </a:bodyPr>
          <a:lstStyle/>
          <a:p>
            <a:pPr algn="l">
              <a:lnSpc>
                <a:spcPct val="100000"/>
              </a:lnSpc>
            </a:pPr>
            <a:r>
              <a:rPr sz="750" b="1">
                <a:solidFill>
                  <a:srgbClr val="A8B8C8"/>
                </a:solidFill>
                <a:latin typeface="Aptos"/>
              </a:rPr>
              <a:t>ĐỖ TRỌNG MINH · APPLIED AI ENGINEER</a:t>
            </a:r>
          </a:p>
        </p:txBody>
      </p:sp>
      <p:sp>
        <p:nvSpPr>
          <p:cNvPr id="63" name="TextBox 62"/>
          <p:cNvSpPr txBox="1"/>
          <p:nvPr/>
        </p:nvSpPr>
        <p:spPr>
          <a:xfrm>
            <a:off x="8412480" y="6556248"/>
            <a:ext cx="3273552" cy="164592"/>
          </a:xfrm>
          <a:prstGeom prst="rect">
            <a:avLst/>
          </a:prstGeom>
          <a:noFill/>
        </p:spPr>
        <p:txBody>
          <a:bodyPr wrap="none" lIns="0" rIns="0" tIns="0" bIns="0" anchor="t">
            <a:spAutoFit/>
          </a:bodyPr>
          <a:lstStyle/>
          <a:p>
            <a:pPr algn="r">
              <a:lnSpc>
                <a:spcPct val="100000"/>
              </a:lnSpc>
            </a:pPr>
            <a:r>
              <a:rPr sz="750" b="1">
                <a:solidFill>
                  <a:srgbClr val="A8B8C8"/>
                </a:solidFill>
                <a:latin typeface="Aptos"/>
              </a:rPr>
              <a:t>90-DAY PRODUCT MINDSET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Đỗ Trọng Minh — Applied AI Engineer</dc:title>
  <dc:subject>Interview portfolio: agentic systems, computer vision and AEC problem solving</dc:subject>
  <dc:creator>Đỗ Trọng Minh</dc:creator>
  <cp:keywords>Applied AI, Computer Vision, LLM Agents, AEC</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